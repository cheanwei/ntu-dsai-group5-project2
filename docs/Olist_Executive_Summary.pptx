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9" roundtripDataSignature="AMtx7mgqGwnwd0c8NNkxQpfGD7TrkMnb9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56239E2-9C70-4757-B94D-CF51BCE4861B}">
  <a:tblStyle styleId="{856239E2-9C70-4757-B94D-CF51BCE4861B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fill>
          <a:solidFill>
            <a:srgbClr val="CFD7E7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FD7E7"/>
          </a:solidFill>
        </a:fill>
      </a:tcStyle>
    </a:band1V>
    <a:band2V>
      <a:tcTxStyle b="off" i="off"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  <a:tblStyle styleId="{B9C70205-BEE1-440A-9A42-65389452891D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fill>
          <a:solidFill>
            <a:srgbClr val="CFD7E7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FD7E7"/>
          </a:solidFill>
        </a:fill>
      </a:tcStyle>
    </a:band1V>
    <a:band2V>
      <a:tcTxStyle b="off" i="off"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customschemas.google.com/relationships/presentationmetadata" Target="meta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" name="Google Shape;92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0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2" name="Google Shape;122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This is the map; the next slide is the contract. Walk it left to right in about forty seconds — source, raw zone, load, warehouse, consumption — then point out zone 6, data quality, validating staging and marts, and the orange band underneath holding it all together. Two things worth saying out loud: the consumption zone on the right now shows every reader of the marts — the notebook, the Streamlit dashboard behind its Flask API, and the Power BI report authored outside the repo — and the whole diagram regenerates from Python, so it is current by construction.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4" name="Google Shape;154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The left column is the answer to 'how do you know the data is right?' — each contract turns a class of silent corruption into a failed run. The right column is the answer to 'who runs it?' — nobody; a clock starts ingestion and an event starts the transforms.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If a CTO pushes on any row, the answer is in the right-hand column — we know what we declined and why. The dbt Core vs dbt Cloud line is the one most likely to be challenged: the deciding factor was model-level lineage, not licence cost.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This is the schema-design justification. The one thing to land with a business audience: the orange box. Getting this wrong is how a marketplace reports revenue that does not exist — and the design makes that mistake structurally impossible rather than a rule people have to remember.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9" name="Google Shape;209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The left column is coverage, the right column is behaviour — the second matters more. The line that lands with executives: nothing is repaired silently. A test that quietly fixed a bad row would give you a clean dashboard over a broken pipeline.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5" name="Google Shape;235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Lead with the orange card if asked what keeps us up at night. Naming an uncovered gap is deliberate: the reconciliation flag exists and is queryable, but no test blocks on it, so we will not claim coverage we do not have.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4" name="Google Shape;264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The caveat at the bottom is the credibility line. Claiming a performance win at 120 MB would be the easiest thing in this deck to disprove, so we say plainly that the layout is intent rather than result.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1" name="Google Shape;281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5" name="Google Shape;295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faa39e91d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31" name="Google Shape;331;g3faa39e91dc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409df0ac948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38" name="Google Shape;338;g409df0ac948_0_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3fb723d646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45" name="Google Shape;345;g3fb723d6469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409df0ac948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52" name="Google Shape;352;g409df0ac948_0_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409df0ac948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59" name="Google Shape;359;g409df0ac948_0_2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3fb723d6469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66" name="Google Shape;366;g3fb723d6469_0_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409df0ac948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73" name="Google Shape;373;g409df0ac948_0_3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409df0ac9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80" name="Google Shape;380;g409df0ac94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91" name="Google Shape;391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7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9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9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0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0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1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1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1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1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3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304D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5989320"/>
            <a:ext cx="12191695" cy="54864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822960" y="214884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OLIST MARKETPLACE  ·  BOARD &amp; INVESTOR REVIEW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804672" y="2514600"/>
            <a:ext cx="106070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Built to Answer the Board: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804672" y="3154680"/>
            <a:ext cx="106071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Delivery &amp; Growth Opportunities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C9D6E2"/>
                </a:solidFill>
                <a:latin typeface="Calibri"/>
                <a:ea typeface="Calibri"/>
                <a:cs typeface="Calibri"/>
                <a:sym typeface="Calibri"/>
              </a:rPr>
              <a:t>Executive Summary &amp; Business Value  —  built for board and</a:t>
            </a:r>
            <a:br>
              <a:rPr b="0" i="0" lang="en-US" sz="1700" u="none" cap="none" strike="noStrike">
                <a:solidFill>
                  <a:srgbClr val="C9D6E2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700" u="none" cap="none" strike="noStrike">
                <a:solidFill>
                  <a:srgbClr val="C9D6E2"/>
                </a:solidFill>
                <a:latin typeface="Calibri"/>
                <a:ea typeface="Calibri"/>
                <a:cs typeface="Calibri"/>
                <a:sym typeface="Calibri"/>
              </a:rPr>
              <a:t>investor accountability after Olist's Series C.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822960" y="6172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8C9CAD"/>
                </a:solidFill>
                <a:latin typeface="Calibri"/>
                <a:ea typeface="Calibri"/>
                <a:cs typeface="Calibri"/>
                <a:sym typeface="Calibri"/>
              </a:rPr>
              <a:t>NTU DSAI · Group 5 Project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7"/>
          <p:cNvSpPr txBox="1"/>
          <p:nvPr/>
        </p:nvSpPr>
        <p:spPr>
          <a:xfrm>
            <a:off x="502920" y="292608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27"/>
          <p:cNvSpPr txBox="1"/>
          <p:nvPr/>
        </p:nvSpPr>
        <p:spPr>
          <a:xfrm>
            <a:off x="484632" y="548640"/>
            <a:ext cx="1115568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Board and investor accountability</a:t>
            </a:r>
            <a:endParaRPr b="1" i="0" sz="3000" u="none" cap="none" strike="noStrike">
              <a:solidFill>
                <a:srgbClr val="143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7"/>
          <p:cNvSpPr/>
          <p:nvPr/>
        </p:nvSpPr>
        <p:spPr>
          <a:xfrm>
            <a:off x="502920" y="1207008"/>
            <a:ext cx="960120" cy="50800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27"/>
          <p:cNvSpPr txBox="1"/>
          <p:nvPr/>
        </p:nvSpPr>
        <p:spPr>
          <a:xfrm>
            <a:off x="502920" y="1417320"/>
            <a:ext cx="11155680" cy="5663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Olist just closed a Series C. The board wants one number for delivery, margins, and growth — but with no single source of truth readily available, manual data cleaning and manipulation resulted in many low value-add man-hours devoted to generate performance report.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27"/>
          <p:cNvSpPr txBox="1"/>
          <p:nvPr/>
        </p:nvSpPr>
        <p:spPr>
          <a:xfrm>
            <a:off x="502920" y="2280000"/>
            <a:ext cx="800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HOW THIS PLATFORM CAME TO EXIST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27"/>
          <p:cNvSpPr/>
          <p:nvPr/>
        </p:nvSpPr>
        <p:spPr>
          <a:xfrm>
            <a:off x="502920" y="2620000"/>
            <a:ext cx="3529500" cy="2414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7"/>
          <p:cNvSpPr/>
          <p:nvPr/>
        </p:nvSpPr>
        <p:spPr>
          <a:xfrm>
            <a:off x="502920" y="2620000"/>
            <a:ext cx="82296" cy="2180000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7"/>
          <p:cNvSpPr txBox="1"/>
          <p:nvPr/>
        </p:nvSpPr>
        <p:spPr>
          <a:xfrm>
            <a:off x="773508" y="2686995"/>
            <a:ext cx="302666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The Crisis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7"/>
          <p:cNvSpPr txBox="1"/>
          <p:nvPr/>
        </p:nvSpPr>
        <p:spPr>
          <a:xfrm>
            <a:off x="718644" y="3112574"/>
            <a:ext cx="3304716" cy="16250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No automated data pipeline exists to generate Olist's performance reports. As a result, report generation relies heavily on manual effort, consuming significant man-hours that could be redirected toward higher-value work.</a:t>
            </a:r>
            <a:endParaRPr b="0" i="0" sz="1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7"/>
          <p:cNvSpPr/>
          <p:nvPr/>
        </p:nvSpPr>
        <p:spPr>
          <a:xfrm>
            <a:off x="4224444" y="2605707"/>
            <a:ext cx="3529584" cy="24143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27"/>
          <p:cNvSpPr/>
          <p:nvPr/>
        </p:nvSpPr>
        <p:spPr>
          <a:xfrm>
            <a:off x="4251960" y="2620000"/>
            <a:ext cx="82296" cy="2180000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27"/>
          <p:cNvSpPr txBox="1"/>
          <p:nvPr/>
        </p:nvSpPr>
        <p:spPr>
          <a:xfrm>
            <a:off x="4544568" y="2703680"/>
            <a:ext cx="302666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The Mandate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27"/>
          <p:cNvSpPr txBox="1"/>
          <p:nvPr/>
        </p:nvSpPr>
        <p:spPr>
          <a:xfrm>
            <a:off x="4522584" y="3174337"/>
            <a:ext cx="3026664" cy="10833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The CEO's verdict: one warehouse, one tested set of business rules, refreshed every morning before the leadership stand-up.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27"/>
          <p:cNvSpPr/>
          <p:nvPr/>
        </p:nvSpPr>
        <p:spPr>
          <a:xfrm>
            <a:off x="8001000" y="2620000"/>
            <a:ext cx="3529584" cy="24893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27"/>
          <p:cNvSpPr/>
          <p:nvPr/>
        </p:nvSpPr>
        <p:spPr>
          <a:xfrm>
            <a:off x="8001000" y="2620000"/>
            <a:ext cx="82296" cy="2180000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27"/>
          <p:cNvSpPr txBox="1"/>
          <p:nvPr/>
        </p:nvSpPr>
        <p:spPr>
          <a:xfrm>
            <a:off x="8275320" y="2705725"/>
            <a:ext cx="302666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The Platform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27"/>
          <p:cNvSpPr txBox="1"/>
          <p:nvPr/>
        </p:nvSpPr>
        <p:spPr>
          <a:xfrm>
            <a:off x="8233296" y="3148069"/>
            <a:ext cx="3026664" cy="13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What follows is the response: a validated star schema, 79 automated tests, and a pipeline that rebuilds itself daily at 08:00 SGT — one number, everywhere.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27"/>
          <p:cNvSpPr txBox="1"/>
          <p:nvPr/>
        </p:nvSpPr>
        <p:spPr>
          <a:xfrm>
            <a:off x="3992232" y="3550000"/>
            <a:ext cx="3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7"/>
          <p:cNvSpPr txBox="1"/>
          <p:nvPr/>
        </p:nvSpPr>
        <p:spPr>
          <a:xfrm>
            <a:off x="7741272" y="3550000"/>
            <a:ext cx="3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27"/>
          <p:cNvSpPr/>
          <p:nvPr/>
        </p:nvSpPr>
        <p:spPr>
          <a:xfrm>
            <a:off x="1292232" y="5730000"/>
            <a:ext cx="3000000" cy="430000"/>
          </a:xfrm>
          <a:prstGeom prst="roundRect">
            <a:avLst>
              <a:gd fmla="val 50000" name="adj"/>
            </a:avLst>
          </a:prstGeom>
          <a:solidFill>
            <a:srgbClr val="F4F6F8"/>
          </a:solidFill>
          <a:ln cap="flat" cmpd="sng" w="9525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0" spcFirstLastPara="1" rIns="0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EXECUTIVE SUMMARY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27"/>
          <p:cNvSpPr/>
          <p:nvPr/>
        </p:nvSpPr>
        <p:spPr>
          <a:xfrm>
            <a:off x="4572232" y="5730000"/>
            <a:ext cx="3000000" cy="430000"/>
          </a:xfrm>
          <a:prstGeom prst="roundRect">
            <a:avLst>
              <a:gd fmla="val 50000" name="adj"/>
            </a:avLst>
          </a:prstGeom>
          <a:solidFill>
            <a:srgbClr val="F4F6F8"/>
          </a:solidFill>
          <a:ln cap="flat" cmpd="sng" w="9525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0" spcFirstLastPara="1" rIns="0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TECHNICAL FOUNDATION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7"/>
          <p:cNvSpPr/>
          <p:nvPr/>
        </p:nvSpPr>
        <p:spPr>
          <a:xfrm>
            <a:off x="7852232" y="5730000"/>
            <a:ext cx="3000000" cy="430000"/>
          </a:xfrm>
          <a:prstGeom prst="roundRect">
            <a:avLst>
              <a:gd fmla="val 50000" name="adj"/>
            </a:avLst>
          </a:prstGeom>
          <a:solidFill>
            <a:srgbClr val="F4F6F8"/>
          </a:solidFill>
          <a:ln cap="flat" cmpd="sng" w="9525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0" spcFirstLastPara="1" rIns="0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BUSINESS VALUE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27"/>
          <p:cNvSpPr txBox="1"/>
          <p:nvPr/>
        </p:nvSpPr>
        <p:spPr>
          <a:xfrm>
            <a:off x="4292232" y="5805000"/>
            <a:ext cx="28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27"/>
          <p:cNvSpPr txBox="1"/>
          <p:nvPr/>
        </p:nvSpPr>
        <p:spPr>
          <a:xfrm>
            <a:off x="7572232" y="5805000"/>
            <a:ext cx="28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27"/>
          <p:cNvSpPr txBox="1"/>
          <p:nvPr/>
        </p:nvSpPr>
        <p:spPr>
          <a:xfrm>
            <a:off x="502920" y="6519672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Olist marketplace analysis  ·  olist_marts (BigQuery)  ·  99,441 orders, Sep 2016 – Oct 2018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7"/>
          <p:cNvSpPr txBox="1"/>
          <p:nvPr/>
        </p:nvSpPr>
        <p:spPr>
          <a:xfrm>
            <a:off x="11475720" y="651967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"/>
          <p:cNvSpPr txBox="1"/>
          <p:nvPr/>
        </p:nvSpPr>
        <p:spPr>
          <a:xfrm>
            <a:off x="502920" y="292608"/>
            <a:ext cx="8229600" cy="2000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EXECUTIVE SUMMARY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2"/>
          <p:cNvSpPr txBox="1"/>
          <p:nvPr/>
        </p:nvSpPr>
        <p:spPr>
          <a:xfrm>
            <a:off x="484632" y="548640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The Fix: One Pipeline, One Source of Truth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2"/>
          <p:cNvSpPr/>
          <p:nvPr/>
        </p:nvSpPr>
        <p:spPr>
          <a:xfrm>
            <a:off x="502920" y="1207008"/>
            <a:ext cx="960120" cy="50800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2"/>
          <p:cNvSpPr txBox="1"/>
          <p:nvPr/>
        </p:nvSpPr>
        <p:spPr>
          <a:xfrm>
            <a:off x="448056" y="1765136"/>
            <a:ext cx="11155680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243E"/>
                </a:solidFill>
                <a:latin typeface="Calibri"/>
                <a:ea typeface="Calibri"/>
                <a:cs typeface="Calibri"/>
                <a:sym typeface="Calibri"/>
              </a:rPr>
              <a:t>Solution: A data engineering pipeline designed to enable the analytics needed to drive business growth and deliver the insights expected by the board and investors.</a:t>
            </a:r>
            <a:endParaRPr b="0" i="0" sz="2400" u="none" cap="none" strike="noStrike">
              <a:solidFill>
                <a:srgbClr val="0F243E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2"/>
          <p:cNvSpPr/>
          <p:nvPr/>
        </p:nvSpPr>
        <p:spPr>
          <a:xfrm>
            <a:off x="1463040" y="3995584"/>
            <a:ext cx="3529584" cy="19659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2"/>
          <p:cNvSpPr/>
          <p:nvPr/>
        </p:nvSpPr>
        <p:spPr>
          <a:xfrm>
            <a:off x="1463040" y="3995584"/>
            <a:ext cx="82296" cy="1965960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2"/>
          <p:cNvSpPr txBox="1"/>
          <p:nvPr/>
        </p:nvSpPr>
        <p:spPr>
          <a:xfrm>
            <a:off x="1737360" y="4196752"/>
            <a:ext cx="3026664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1. Delivery &amp; reviews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"/>
          <p:cNvSpPr txBox="1"/>
          <p:nvPr/>
        </p:nvSpPr>
        <p:spPr>
          <a:xfrm>
            <a:off x="1737324" y="4719941"/>
            <a:ext cx="3026700" cy="600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How does late delivery drag down customer reviews ?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2"/>
          <p:cNvSpPr/>
          <p:nvPr/>
        </p:nvSpPr>
        <p:spPr>
          <a:xfrm>
            <a:off x="5212080" y="3995584"/>
            <a:ext cx="82296" cy="1965960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"/>
          <p:cNvSpPr/>
          <p:nvPr/>
        </p:nvSpPr>
        <p:spPr>
          <a:xfrm>
            <a:off x="6391656" y="3995584"/>
            <a:ext cx="3529584" cy="188861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2"/>
          <p:cNvSpPr/>
          <p:nvPr/>
        </p:nvSpPr>
        <p:spPr>
          <a:xfrm>
            <a:off x="6391656" y="3995584"/>
            <a:ext cx="82296" cy="1888618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"/>
          <p:cNvSpPr txBox="1"/>
          <p:nvPr/>
        </p:nvSpPr>
        <p:spPr>
          <a:xfrm>
            <a:off x="6665976" y="4119410"/>
            <a:ext cx="3026664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2. Geography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2"/>
          <p:cNvSpPr txBox="1"/>
          <p:nvPr/>
        </p:nvSpPr>
        <p:spPr>
          <a:xfrm>
            <a:off x="6665976" y="4631474"/>
            <a:ext cx="3026700" cy="9012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Where does revenue come from, and how should this affect future investments?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2"/>
          <p:cNvSpPr txBox="1"/>
          <p:nvPr/>
        </p:nvSpPr>
        <p:spPr>
          <a:xfrm>
            <a:off x="502920" y="6519672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Olist marketplace analysis  ·  olist_marts (BigQuery)  ·  99,441 orders, Sep 2016 – Oct 2018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2"/>
          <p:cNvSpPr txBox="1"/>
          <p:nvPr/>
        </p:nvSpPr>
        <p:spPr>
          <a:xfrm>
            <a:off x="11475720" y="651967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2"/>
          <p:cNvSpPr/>
          <p:nvPr/>
        </p:nvSpPr>
        <p:spPr>
          <a:xfrm>
            <a:off x="286113" y="1714335"/>
            <a:ext cx="11383800" cy="843335"/>
          </a:xfrm>
          <a:prstGeom prst="rect">
            <a:avLst/>
          </a:prstGeom>
          <a:noFill/>
          <a:ln cap="flat" cmpd="sng" w="47625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2"/>
          <p:cNvSpPr txBox="1"/>
          <p:nvPr/>
        </p:nvSpPr>
        <p:spPr>
          <a:xfrm>
            <a:off x="1921240" y="3544037"/>
            <a:ext cx="80000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20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ILLUSTRATIVE USE CASES:</a:t>
            </a:r>
            <a:endParaRPr b="1" i="0" sz="2000" u="none" cap="none" strike="noStrike">
              <a:solidFill>
                <a:srgbClr val="E0793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8"/>
          <p:cNvSpPr txBox="1"/>
          <p:nvPr/>
        </p:nvSpPr>
        <p:spPr>
          <a:xfrm>
            <a:off x="502920" y="292608"/>
            <a:ext cx="82296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TECHNICAL FOUNDATION  ·  1 OF 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28"/>
          <p:cNvSpPr txBox="1"/>
          <p:nvPr/>
        </p:nvSpPr>
        <p:spPr>
          <a:xfrm>
            <a:off x="502920" y="6519672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Olist marketplace analysis  ·  olist_marts (BigQuery)  ·  99,441 orders, Sep 2016 – Oct 2018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28"/>
          <p:cNvSpPr txBox="1"/>
          <p:nvPr/>
        </p:nvSpPr>
        <p:spPr>
          <a:xfrm>
            <a:off x="11475720" y="651967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28"/>
          <p:cNvSpPr txBox="1"/>
          <p:nvPr/>
        </p:nvSpPr>
        <p:spPr>
          <a:xfrm>
            <a:off x="502920" y="841248"/>
            <a:ext cx="224028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High-Level Architecture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8"/>
          <p:cNvSpPr/>
          <p:nvPr/>
        </p:nvSpPr>
        <p:spPr>
          <a:xfrm>
            <a:off x="502920" y="2212848"/>
            <a:ext cx="960120" cy="54864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28"/>
          <p:cNvSpPr txBox="1"/>
          <p:nvPr/>
        </p:nvSpPr>
        <p:spPr>
          <a:xfrm>
            <a:off x="502920" y="2468880"/>
            <a:ext cx="2240400" cy="202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Six zones, one flow. </a:t>
            </a:r>
            <a:r>
              <a:rPr b="0" i="0" lang="en-US" sz="12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Solid arrows are data moving; dashed arrows are control and validation.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Everything inside runs as one Dagster asset graph — the contracts each layer keeps are on the next slide.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8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rch-diagram.png" id="151" name="Google Shape;151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71800" y="658368"/>
            <a:ext cx="8714232" cy="54510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9"/>
          <p:cNvSpPr txBox="1"/>
          <p:nvPr/>
        </p:nvSpPr>
        <p:spPr>
          <a:xfrm>
            <a:off x="502920" y="292608"/>
            <a:ext cx="82296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TECHNICAL FOUNDATION  ·  2 OF 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29"/>
          <p:cNvSpPr txBox="1"/>
          <p:nvPr/>
        </p:nvSpPr>
        <p:spPr>
          <a:xfrm>
            <a:off x="484632" y="548640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What Each Layer Promises, and What Sets It Running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9"/>
          <p:cNvSpPr/>
          <p:nvPr/>
        </p:nvSpPr>
        <p:spPr>
          <a:xfrm>
            <a:off x="502920" y="1207008"/>
            <a:ext cx="960120" cy="54864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9"/>
          <p:cNvSpPr txBox="1"/>
          <p:nvPr/>
        </p:nvSpPr>
        <p:spPr>
          <a:xfrm>
            <a:off x="502920" y="6519672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Olist marketplace analysis  ·  olist_marts (BigQuery)  ·  99,441 orders, Sep 2016 – Oct 2018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29"/>
          <p:cNvSpPr txBox="1"/>
          <p:nvPr/>
        </p:nvSpPr>
        <p:spPr>
          <a:xfrm>
            <a:off x="11475720" y="651967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29"/>
          <p:cNvSpPr txBox="1"/>
          <p:nvPr/>
        </p:nvSpPr>
        <p:spPr>
          <a:xfrm>
            <a:off x="502920" y="1389888"/>
            <a:ext cx="111558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These are the rules that keep it trustworthy when it runs unattended.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29"/>
          <p:cNvSpPr/>
          <p:nvPr/>
        </p:nvSpPr>
        <p:spPr>
          <a:xfrm>
            <a:off x="502920" y="1847088"/>
            <a:ext cx="5623560" cy="43434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29"/>
          <p:cNvSpPr/>
          <p:nvPr/>
        </p:nvSpPr>
        <p:spPr>
          <a:xfrm>
            <a:off x="502920" y="1847088"/>
            <a:ext cx="5623560" cy="475488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9"/>
          <p:cNvSpPr txBox="1"/>
          <p:nvPr/>
        </p:nvSpPr>
        <p:spPr>
          <a:xfrm>
            <a:off x="704088" y="1847088"/>
            <a:ext cx="5221224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CONTRACT EACH LAYER KEEPS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9"/>
          <p:cNvSpPr txBox="1"/>
          <p:nvPr/>
        </p:nvSpPr>
        <p:spPr>
          <a:xfrm>
            <a:off x="777240" y="2487168"/>
            <a:ext cx="50749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1  ·  SOURCE — Kaggle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Dataset version and all 52 columns pinned in config; a missing file or an unexpected column fails the run.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9"/>
          <p:cNvSpPr txBox="1"/>
          <p:nvPr/>
        </p:nvSpPr>
        <p:spPr>
          <a:xfrm>
            <a:off x="777240" y="3218688"/>
            <a:ext cx="50749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2  ·  RAW ZONE — Cloud Storage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The exact extracted files stay under a dated prefix, so any prefix replays downstream without re-downloading.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29"/>
          <p:cNvSpPr txBox="1"/>
          <p:nvPr/>
        </p:nvSpPr>
        <p:spPr>
          <a:xfrm>
            <a:off x="777240" y="3950208"/>
            <a:ext cx="50749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3  ·  LOAD — dlt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Schema frozen: a new or retyped column fails the load. Loads replace, so a rerun never duplicates rows.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29"/>
          <p:cNvSpPr txBox="1"/>
          <p:nvPr/>
        </p:nvSpPr>
        <p:spPr>
          <a:xfrm>
            <a:off x="777240" y="4681728"/>
            <a:ext cx="50748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4  ·  WAREHOUSE — BigQuery + dbt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Each cleaning rule lives in </a:t>
            </a:r>
            <a:r>
              <a:rPr lang="en-US" sz="1150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one layer only</a:t>
            </a: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 — </a:t>
            </a:r>
            <a:r>
              <a:rPr lang="en-US" sz="1150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so there's no conflicting logic</a:t>
            </a: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29"/>
          <p:cNvSpPr txBox="1"/>
          <p:nvPr/>
        </p:nvSpPr>
        <p:spPr>
          <a:xfrm>
            <a:off x="777240" y="5413248"/>
            <a:ext cx="50749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5  ·  CONSUMPTION — notebooks, Streamlit, Power BI, dbt Docs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Consumers read marts, never raw or staging.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29"/>
          <p:cNvSpPr/>
          <p:nvPr/>
        </p:nvSpPr>
        <p:spPr>
          <a:xfrm>
            <a:off x="6400800" y="1847088"/>
            <a:ext cx="5285232" cy="43434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29"/>
          <p:cNvSpPr/>
          <p:nvPr/>
        </p:nvSpPr>
        <p:spPr>
          <a:xfrm>
            <a:off x="6400800" y="1847088"/>
            <a:ext cx="5285232" cy="475488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29"/>
          <p:cNvSpPr txBox="1"/>
          <p:nvPr/>
        </p:nvSpPr>
        <p:spPr>
          <a:xfrm>
            <a:off x="6601968" y="1847088"/>
            <a:ext cx="4882896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ORCHESTRATION  ·  TWO SIGNALS, ONE GRAPH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29"/>
          <p:cNvSpPr/>
          <p:nvPr/>
        </p:nvSpPr>
        <p:spPr>
          <a:xfrm>
            <a:off x="6675120" y="2487168"/>
            <a:ext cx="4736592" cy="530352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29"/>
          <p:cNvSpPr txBox="1"/>
          <p:nvPr/>
        </p:nvSpPr>
        <p:spPr>
          <a:xfrm>
            <a:off x="6821424" y="2487168"/>
            <a:ext cx="4443984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08:00 SGT  ·  daily_refresh schedule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C6D0DB"/>
                </a:solidFill>
                <a:latin typeface="Calibri"/>
                <a:ea typeface="Calibri"/>
                <a:cs typeface="Calibri"/>
                <a:sym typeface="Calibri"/>
              </a:rPr>
              <a:t>a clock, because Kaggle announces nothing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29"/>
          <p:cNvSpPr/>
          <p:nvPr/>
        </p:nvSpPr>
        <p:spPr>
          <a:xfrm>
            <a:off x="8970264" y="3035808"/>
            <a:ext cx="146304" cy="164592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9AA7B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29"/>
          <p:cNvSpPr/>
          <p:nvPr/>
        </p:nvSpPr>
        <p:spPr>
          <a:xfrm>
            <a:off x="6675120" y="3218688"/>
            <a:ext cx="4736592" cy="530352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29"/>
          <p:cNvSpPr txBox="1"/>
          <p:nvPr/>
        </p:nvSpPr>
        <p:spPr>
          <a:xfrm>
            <a:off x="6821424" y="3218688"/>
            <a:ext cx="4443984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Kaggle → GCS → olist_raw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C6D0DB"/>
                </a:solidFill>
                <a:latin typeface="Calibri"/>
                <a:ea typeface="Calibri"/>
                <a:cs typeface="Calibri"/>
                <a:sym typeface="Calibri"/>
              </a:rPr>
              <a:t>the ingestion group only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9"/>
          <p:cNvSpPr/>
          <p:nvPr/>
        </p:nvSpPr>
        <p:spPr>
          <a:xfrm>
            <a:off x="8970264" y="3767328"/>
            <a:ext cx="146304" cy="164592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9AA7B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9"/>
          <p:cNvSpPr/>
          <p:nvPr/>
        </p:nvSpPr>
        <p:spPr>
          <a:xfrm>
            <a:off x="6675120" y="3950208"/>
            <a:ext cx="4736592" cy="530352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9"/>
          <p:cNvSpPr txBox="1"/>
          <p:nvPr/>
        </p:nvSpPr>
        <p:spPr>
          <a:xfrm>
            <a:off x="6821424" y="3950208"/>
            <a:ext cx="4443984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automation-condition sensor, every 60s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BE3D2"/>
                </a:solidFill>
                <a:latin typeface="Calibri"/>
                <a:ea typeface="Calibri"/>
                <a:cs typeface="Calibri"/>
                <a:sym typeface="Calibri"/>
              </a:rPr>
              <a:t>an event: raw materialized successfully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9"/>
          <p:cNvSpPr/>
          <p:nvPr/>
        </p:nvSpPr>
        <p:spPr>
          <a:xfrm>
            <a:off x="8970264" y="4498848"/>
            <a:ext cx="146304" cy="164592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9AA7B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29"/>
          <p:cNvSpPr/>
          <p:nvPr/>
        </p:nvSpPr>
        <p:spPr>
          <a:xfrm>
            <a:off x="6675120" y="4681728"/>
            <a:ext cx="4736592" cy="530352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29"/>
          <p:cNvSpPr txBox="1"/>
          <p:nvPr/>
        </p:nvSpPr>
        <p:spPr>
          <a:xfrm>
            <a:off x="6821424" y="4681728"/>
            <a:ext cx="4443984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21 dbt models + their asset checks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C6D0DB"/>
                </a:solidFill>
                <a:latin typeface="Calibri"/>
                <a:ea typeface="Calibri"/>
                <a:cs typeface="Calibri"/>
                <a:sym typeface="Calibri"/>
              </a:rPr>
              <a:t>marts rebuilt, tests run in the same pass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29"/>
          <p:cNvSpPr txBox="1"/>
          <p:nvPr/>
        </p:nvSpPr>
        <p:spPr>
          <a:xfrm>
            <a:off x="6675120" y="5394960"/>
            <a:ext cx="4736592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Why two signals and not one cron. </a:t>
            </a: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Kaggle publishes no event, so ingestion is polled. A successful raw load is an event inside the platform, so transforms react to it — and failed ingestion never rebuilds the marts over stale data.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0"/>
          <p:cNvSpPr txBox="1"/>
          <p:nvPr/>
        </p:nvSpPr>
        <p:spPr>
          <a:xfrm>
            <a:off x="502920" y="292608"/>
            <a:ext cx="82296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TECHNICAL FOUNDATION  ·  3 OF 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0"/>
          <p:cNvSpPr txBox="1"/>
          <p:nvPr/>
        </p:nvSpPr>
        <p:spPr>
          <a:xfrm>
            <a:off x="484632" y="548640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Why These Tools — and What We Turned Down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0"/>
          <p:cNvSpPr/>
          <p:nvPr/>
        </p:nvSpPr>
        <p:spPr>
          <a:xfrm>
            <a:off x="502920" y="1207008"/>
            <a:ext cx="960120" cy="54864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0"/>
          <p:cNvSpPr txBox="1"/>
          <p:nvPr/>
        </p:nvSpPr>
        <p:spPr>
          <a:xfrm>
            <a:off x="502920" y="6519672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Olist marketplace analysis  ·  olist_marts (BigQuery)  ·  99,441 orders, Sep 2016 – Oct 2018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30"/>
          <p:cNvSpPr txBox="1"/>
          <p:nvPr/>
        </p:nvSpPr>
        <p:spPr>
          <a:xfrm>
            <a:off x="11475720" y="651967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30"/>
          <p:cNvSpPr txBox="1"/>
          <p:nvPr/>
        </p:nvSpPr>
        <p:spPr>
          <a:xfrm>
            <a:off x="502920" y="1389888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Five decisions carry the platform. Each was made against a named alternative: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95" name="Google Shape;195;p30"/>
          <p:cNvGraphicFramePr/>
          <p:nvPr/>
        </p:nvGraphicFramePr>
        <p:xfrm>
          <a:off x="502920" y="181051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{856239E2-9C70-4757-B94D-CF51BCE4861B}</a:tableStyleId>
              </a:tblPr>
              <a:tblGrid>
                <a:gridCol w="1600200"/>
                <a:gridCol w="1874525"/>
                <a:gridCol w="3977650"/>
                <a:gridCol w="3730750"/>
              </a:tblGrid>
              <a:tr h="4206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Concern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Our choice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Why it wins here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What we turned down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14304D"/>
                    </a:solidFill>
                  </a:tcPr>
                </a:tc>
              </a:tr>
              <a:tr h="7681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Warehouse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E079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BigQuery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Managed columnar storage with elastic compute, and transformation logic that runs next to the data it reads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Postgres is tuned for transactions; DuckDB is excellent locally but would not exercise a cloud architecture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FFFFFF"/>
                    </a:solidFill>
                  </a:tcPr>
                </a:tc>
              </a:tr>
              <a:tr h="7681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Ingestion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E079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dlt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Declared column types, a schema contract that freezes drift, replace loads, and per-table lineage in Dagster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Hand-written loaders mean owning retry, schema and lineage code; Meltano adds a Singer layer without removing the Kaggle step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EEF1F5"/>
                    </a:solidFill>
                  </a:tcPr>
                </a:tc>
              </a:tr>
              <a:tr h="7681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Transformation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E079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dbt Core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Dependency graph, tests and documentation in one tool — and every model appears individually in the asset graph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Raw SQL carries no dependency or test metadata; dbt Cloud would add a second scheduler and hide model-level lineage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FFFFFF"/>
                    </a:solidFill>
                  </a:tcPr>
                </a:tc>
              </a:tr>
              <a:tr h="7681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Orchestration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E079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Dagster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pipeline is naturally an asset graph, not a task list, and it integrates directly with both dlt and dbt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Airflow would restate dbt's dependencies by hand; cron gives no lineage and no conditional downstream execution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EEF1F5"/>
                    </a:solidFill>
                  </a:tcPr>
                </a:tc>
              </a:tr>
              <a:tr h="7681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Quality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E079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dbt tests + utils</a:t>
                      </a:r>
                      <a:br>
                        <a:rPr b="1" lang="en-US" sz="1200" u="none" cap="none" strike="noStrike">
                          <a:solidFill>
                            <a:srgbClr val="E079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b="1" lang="en-US" sz="1200" u="none" cap="none" strike="noStrike">
                          <a:solidFill>
                            <a:srgbClr val="E079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 expectations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79 structural and business checks run in the same build command and surface as asset checks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 separate assertion service would split ownership and reporting away from the models being tested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1"/>
          <p:cNvSpPr txBox="1"/>
          <p:nvPr/>
        </p:nvSpPr>
        <p:spPr>
          <a:xfrm>
            <a:off x="502920" y="292608"/>
            <a:ext cx="82296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TECHNICAL FOUNDATION  ·  4 OF 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31"/>
          <p:cNvSpPr txBox="1"/>
          <p:nvPr/>
        </p:nvSpPr>
        <p:spPr>
          <a:xfrm>
            <a:off x="484632" y="548640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Warehouse Design: A Star That Cannot Double-Count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31"/>
          <p:cNvSpPr/>
          <p:nvPr/>
        </p:nvSpPr>
        <p:spPr>
          <a:xfrm>
            <a:off x="502920" y="1207008"/>
            <a:ext cx="960120" cy="54864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31"/>
          <p:cNvSpPr txBox="1"/>
          <p:nvPr/>
        </p:nvSpPr>
        <p:spPr>
          <a:xfrm>
            <a:off x="502920" y="6519672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Olist marketplace analysis  ·  olist_marts (BigQuery)  ·  99,441 orders, Sep 2016 – Oct 2018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31"/>
          <p:cNvSpPr txBox="1"/>
          <p:nvPr/>
        </p:nvSpPr>
        <p:spPr>
          <a:xfrm>
            <a:off x="11475720" y="651967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31"/>
          <p:cNvSpPr txBox="1"/>
          <p:nvPr/>
        </p:nvSpPr>
        <p:spPr>
          <a:xfrm>
            <a:off x="7813285" y="1809969"/>
            <a:ext cx="46908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WHY THIS SHAPE, AND NOT ONE WIDE TABLE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6" name="Google Shape;206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1414276"/>
            <a:ext cx="10515601" cy="52578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2"/>
          <p:cNvSpPr txBox="1"/>
          <p:nvPr/>
        </p:nvSpPr>
        <p:spPr>
          <a:xfrm>
            <a:off x="502920" y="292608"/>
            <a:ext cx="82296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TECHNICAL FOUNDATION  ·  5 OF 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32"/>
          <p:cNvSpPr txBox="1"/>
          <p:nvPr/>
        </p:nvSpPr>
        <p:spPr>
          <a:xfrm>
            <a:off x="484632" y="548640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How the Numbers Stay Correct Without Anyone Watching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32"/>
          <p:cNvSpPr/>
          <p:nvPr/>
        </p:nvSpPr>
        <p:spPr>
          <a:xfrm>
            <a:off x="502920" y="1207008"/>
            <a:ext cx="960120" cy="54864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2"/>
          <p:cNvSpPr txBox="1"/>
          <p:nvPr/>
        </p:nvSpPr>
        <p:spPr>
          <a:xfrm>
            <a:off x="502920" y="6519672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Olist marketplace analysis  ·  olist_marts (BigQuery)  ·  99,441 orders, Sep 2016 – Oct 2018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32"/>
          <p:cNvSpPr txBox="1"/>
          <p:nvPr/>
        </p:nvSpPr>
        <p:spPr>
          <a:xfrm>
            <a:off x="11475720" y="651967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32"/>
          <p:cNvSpPr txBox="1"/>
          <p:nvPr/>
        </p:nvSpPr>
        <p:spPr>
          <a:xfrm>
            <a:off x="502920" y="1389888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79 tests run inside every build — not as a separate job someone has to remember to start.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32"/>
          <p:cNvSpPr/>
          <p:nvPr/>
        </p:nvSpPr>
        <p:spPr>
          <a:xfrm>
            <a:off x="502920" y="1847088"/>
            <a:ext cx="5440680" cy="418795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32"/>
          <p:cNvSpPr/>
          <p:nvPr/>
        </p:nvSpPr>
        <p:spPr>
          <a:xfrm>
            <a:off x="502920" y="1847088"/>
            <a:ext cx="5440680" cy="475488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32"/>
          <p:cNvSpPr txBox="1"/>
          <p:nvPr/>
        </p:nvSpPr>
        <p:spPr>
          <a:xfrm>
            <a:off x="704088" y="1847088"/>
            <a:ext cx="5038344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79 CHECKS, BY FAMILY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32"/>
          <p:cNvSpPr txBox="1"/>
          <p:nvPr/>
        </p:nvSpPr>
        <p:spPr>
          <a:xfrm>
            <a:off x="777240" y="2468880"/>
            <a:ext cx="4892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unique, not_null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declared grains and required join keys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32"/>
          <p:cNvSpPr txBox="1"/>
          <p:nvPr/>
        </p:nvSpPr>
        <p:spPr>
          <a:xfrm>
            <a:off x="777240" y="2999232"/>
            <a:ext cx="4892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relationships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order, customer, product, seller, payment and review links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32"/>
          <p:cNvSpPr txBox="1"/>
          <p:nvPr/>
        </p:nvSpPr>
        <p:spPr>
          <a:xfrm>
            <a:off x="777240" y="3529584"/>
            <a:ext cx="4892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accepted_values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order status and payment type domains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32"/>
          <p:cNvSpPr txBox="1"/>
          <p:nvPr/>
        </p:nvSpPr>
        <p:spPr>
          <a:xfrm>
            <a:off x="777240" y="4059936"/>
            <a:ext cx="4892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dbt_utils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composite keys, non-negative amounts, customer grain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32"/>
          <p:cNvSpPr txBox="1"/>
          <p:nvPr/>
        </p:nvSpPr>
        <p:spPr>
          <a:xfrm>
            <a:off x="777240" y="4590288"/>
            <a:ext cx="4892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dbt_expectations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row-count bands, date ranges, timestamp ordering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32"/>
          <p:cNvSpPr txBox="1"/>
          <p:nvPr/>
        </p:nvSpPr>
        <p:spPr>
          <a:xfrm>
            <a:off x="777240" y="5230368"/>
            <a:ext cx="48920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Declared beside the models they guard </a:t>
            </a: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in _sources.yml and each layer's schema.yml — so a new model without tests is visible in review, not discovered in production.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32"/>
          <p:cNvSpPr/>
          <p:nvPr/>
        </p:nvSpPr>
        <p:spPr>
          <a:xfrm>
            <a:off x="6245352" y="1847088"/>
            <a:ext cx="5440680" cy="418795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32"/>
          <p:cNvSpPr/>
          <p:nvPr/>
        </p:nvSpPr>
        <p:spPr>
          <a:xfrm>
            <a:off x="6245352" y="1847088"/>
            <a:ext cx="5440680" cy="475488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32"/>
          <p:cNvSpPr txBox="1"/>
          <p:nvPr/>
        </p:nvSpPr>
        <p:spPr>
          <a:xfrm>
            <a:off x="6446520" y="1847088"/>
            <a:ext cx="5038344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WHAT HAPPENS WHEN ONE FAILS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32"/>
          <p:cNvSpPr txBox="1"/>
          <p:nvPr/>
        </p:nvSpPr>
        <p:spPr>
          <a:xfrm>
            <a:off x="6519672" y="2468880"/>
            <a:ext cx="4892040" cy="8595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Most failures block the build.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A missing key, a broken relationship, a duplicated grain or an out-of-domain value stops the run before anything downstream rebuilds on it.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32"/>
          <p:cNvSpPr txBox="1"/>
          <p:nvPr/>
        </p:nvSpPr>
        <p:spPr>
          <a:xfrm>
            <a:off x="6519672" y="3383280"/>
            <a:ext cx="4892040" cy="8595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Two lifecycle checks warn instead.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The source holds plausible historical anomalies. They stay visible in the run without blocking models that have nothing to do with them.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32"/>
          <p:cNvSpPr txBox="1"/>
          <p:nvPr/>
        </p:nvSpPr>
        <p:spPr>
          <a:xfrm>
            <a:off x="6519672" y="4297680"/>
            <a:ext cx="4892040" cy="8595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Nothing is ever repaired silently.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Tests verify data; they do not mutate it. A bad row is surfaced and left in place, so the fix happens in a model that everyone can review.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32"/>
          <p:cNvSpPr txBox="1"/>
          <p:nvPr/>
        </p:nvSpPr>
        <p:spPr>
          <a:xfrm>
            <a:off x="6519672" y="5212080"/>
            <a:ext cx="4892040" cy="8595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Results land on the assets themselves.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Dagster maps each test onto the asset it guards, so a failure names the model at fault rather than a generic failed job.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3"/>
          <p:cNvSpPr txBox="1"/>
          <p:nvPr/>
        </p:nvSpPr>
        <p:spPr>
          <a:xfrm>
            <a:off x="502920" y="292608"/>
            <a:ext cx="8229600" cy="2000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TECHNICAL FOUNDATION  ·  6 OF 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33"/>
          <p:cNvSpPr txBox="1"/>
          <p:nvPr/>
        </p:nvSpPr>
        <p:spPr>
          <a:xfrm>
            <a:off x="484632" y="548640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Risks — and How Each One Is Contained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33"/>
          <p:cNvSpPr/>
          <p:nvPr/>
        </p:nvSpPr>
        <p:spPr>
          <a:xfrm>
            <a:off x="502920" y="1207008"/>
            <a:ext cx="960120" cy="54864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33"/>
          <p:cNvSpPr txBox="1"/>
          <p:nvPr/>
        </p:nvSpPr>
        <p:spPr>
          <a:xfrm>
            <a:off x="502920" y="6519672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Olist marketplace analysis  ·  olist_marts (BigQuery)  ·  99,441 orders, Sep 2016 – Oct 2018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33"/>
          <p:cNvSpPr txBox="1"/>
          <p:nvPr/>
        </p:nvSpPr>
        <p:spPr>
          <a:xfrm>
            <a:off x="11475720" y="651967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33"/>
          <p:cNvSpPr/>
          <p:nvPr/>
        </p:nvSpPr>
        <p:spPr>
          <a:xfrm>
            <a:off x="502920" y="1755648"/>
            <a:ext cx="3566160" cy="213969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33"/>
          <p:cNvSpPr/>
          <p:nvPr/>
        </p:nvSpPr>
        <p:spPr>
          <a:xfrm>
            <a:off x="502920" y="1755648"/>
            <a:ext cx="3566160" cy="457200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33"/>
          <p:cNvSpPr txBox="1"/>
          <p:nvPr/>
        </p:nvSpPr>
        <p:spPr>
          <a:xfrm>
            <a:off x="685800" y="1755648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Source schema drift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33"/>
          <p:cNvSpPr txBox="1"/>
          <p:nvPr/>
        </p:nvSpPr>
        <p:spPr>
          <a:xfrm>
            <a:off x="685800" y="2340864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Kaggle republishes the dataset with a new, renamed or retyped column.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CONTAINED BY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8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The dlt contract freezes the schema, so the load fails loudly instead of quietly changing the marts. The last good dated prefix still replays.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33"/>
          <p:cNvSpPr/>
          <p:nvPr/>
        </p:nvSpPr>
        <p:spPr>
          <a:xfrm>
            <a:off x="4311396" y="1755648"/>
            <a:ext cx="3566160" cy="213969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33"/>
          <p:cNvSpPr/>
          <p:nvPr/>
        </p:nvSpPr>
        <p:spPr>
          <a:xfrm>
            <a:off x="4311396" y="1755648"/>
            <a:ext cx="3566160" cy="457200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33"/>
          <p:cNvSpPr txBox="1"/>
          <p:nvPr/>
        </p:nvSpPr>
        <p:spPr>
          <a:xfrm>
            <a:off x="4494276" y="1755648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Single-VM deployment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33"/>
          <p:cNvSpPr txBox="1"/>
          <p:nvPr/>
        </p:nvSpPr>
        <p:spPr>
          <a:xfrm>
            <a:off x="4494276" y="2340864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One e2-micro runs the webserver and daemon, with SQLite run history.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CONTAINED BY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8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History is bind-mounted and survives restarts; images are SHA-pinned and redeployable. Residual: history is durable but not replicated.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33"/>
          <p:cNvSpPr/>
          <p:nvPr/>
        </p:nvSpPr>
        <p:spPr>
          <a:xfrm>
            <a:off x="8119872" y="1755648"/>
            <a:ext cx="3566160" cy="213969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33"/>
          <p:cNvSpPr/>
          <p:nvPr/>
        </p:nvSpPr>
        <p:spPr>
          <a:xfrm>
            <a:off x="8119872" y="1755648"/>
            <a:ext cx="3566160" cy="457200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33"/>
          <p:cNvSpPr txBox="1"/>
          <p:nvPr/>
        </p:nvSpPr>
        <p:spPr>
          <a:xfrm>
            <a:off x="8302752" y="1755648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Misreading the incomplete tail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33"/>
          <p:cNvSpPr txBox="1"/>
          <p:nvPr/>
        </p:nvSpPr>
        <p:spPr>
          <a:xfrm>
            <a:off x="8302752" y="2340864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The extract stops during 2018, so the final month looks like a collapse.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CONTAINED BY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8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dim_date.is_complete_month marks it, and every trend in this deck filters on it rather than relying on the reader to remember.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33"/>
          <p:cNvSpPr/>
          <p:nvPr/>
        </p:nvSpPr>
        <p:spPr>
          <a:xfrm>
            <a:off x="502920" y="4114800"/>
            <a:ext cx="3566160" cy="213969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33"/>
          <p:cNvSpPr/>
          <p:nvPr/>
        </p:nvSpPr>
        <p:spPr>
          <a:xfrm>
            <a:off x="502920" y="4114800"/>
            <a:ext cx="3566160" cy="457200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33"/>
          <p:cNvSpPr txBox="1"/>
          <p:nvPr/>
        </p:nvSpPr>
        <p:spPr>
          <a:xfrm>
            <a:off x="685800" y="4114800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Using the wrong customer key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3"/>
          <p:cNvSpPr txBox="1"/>
          <p:nvPr/>
        </p:nvSpPr>
        <p:spPr>
          <a:xfrm>
            <a:off x="685800" y="4700016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customer_id is a per-order surrogate; keying on it hides every repeat buyer.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CONTAINED BY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8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dim_customer is keyed on customer_unique_id, and a test asserts it has fewer rows than fct_orders — the mistake fails the build.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3"/>
          <p:cNvSpPr/>
          <p:nvPr/>
        </p:nvSpPr>
        <p:spPr>
          <a:xfrm>
            <a:off x="8119872" y="4114800"/>
            <a:ext cx="3566160" cy="213969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3"/>
          <p:cNvSpPr/>
          <p:nvPr/>
        </p:nvSpPr>
        <p:spPr>
          <a:xfrm>
            <a:off x="8119872" y="4114800"/>
            <a:ext cx="3566160" cy="457200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3"/>
          <p:cNvSpPr txBox="1"/>
          <p:nvPr/>
        </p:nvSpPr>
        <p:spPr>
          <a:xfrm>
            <a:off x="8302752" y="4114800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Warehouse cost drift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3"/>
          <p:cNvSpPr txBox="1"/>
          <p:nvPr/>
        </p:nvSpPr>
        <p:spPr>
          <a:xfrm>
            <a:off x="8302752" y="4700016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Unbounded scans on facts as history and query volume grow.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CONTAINED BY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8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Aggregation happens inside BigQuery and only small results are pulled back; facts are partitioned by date and clustered on their join keys.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4"/>
          <p:cNvSpPr txBox="1"/>
          <p:nvPr/>
        </p:nvSpPr>
        <p:spPr>
          <a:xfrm>
            <a:off x="502920" y="292608"/>
            <a:ext cx="82296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TECHNICAL FOUNDATION  ·  7 OF 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34"/>
          <p:cNvSpPr txBox="1"/>
          <p:nvPr/>
        </p:nvSpPr>
        <p:spPr>
          <a:xfrm>
            <a:off x="484632" y="548640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What Holds at 100× Volume — and What We Would Change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34"/>
          <p:cNvSpPr/>
          <p:nvPr/>
        </p:nvSpPr>
        <p:spPr>
          <a:xfrm>
            <a:off x="502920" y="1207008"/>
            <a:ext cx="960120" cy="54864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34"/>
          <p:cNvSpPr txBox="1"/>
          <p:nvPr/>
        </p:nvSpPr>
        <p:spPr>
          <a:xfrm>
            <a:off x="502920" y="6519672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Olist marketplace analysis  ·  olist_marts (BigQuery)  ·  99,441 orders, Sep 2016 – Oct 2018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34"/>
          <p:cNvSpPr txBox="1"/>
          <p:nvPr/>
        </p:nvSpPr>
        <p:spPr>
          <a:xfrm>
            <a:off x="11475720" y="651967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1" name="Google Shape;271;p34"/>
          <p:cNvSpPr/>
          <p:nvPr/>
        </p:nvSpPr>
        <p:spPr>
          <a:xfrm>
            <a:off x="502920" y="1847088"/>
            <a:ext cx="5440680" cy="358444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34"/>
          <p:cNvSpPr/>
          <p:nvPr/>
        </p:nvSpPr>
        <p:spPr>
          <a:xfrm>
            <a:off x="502920" y="1847088"/>
            <a:ext cx="5440680" cy="475488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34"/>
          <p:cNvSpPr txBox="1"/>
          <p:nvPr/>
        </p:nvSpPr>
        <p:spPr>
          <a:xfrm>
            <a:off x="704088" y="1847088"/>
            <a:ext cx="5038344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HOLDS AS-IS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34"/>
          <p:cNvSpPr txBox="1"/>
          <p:nvPr/>
        </p:nvSpPr>
        <p:spPr>
          <a:xfrm>
            <a:off x="777240" y="2514600"/>
            <a:ext cx="4892040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ELT with a durable raw zone. </a:t>
            </a:r>
            <a:r>
              <a:rPr b="0" i="0" lang="en-US" sz="12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A transformation defect is fixed in SQL and rebuilt — no re-extraction.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The star-schema grains. </a:t>
            </a:r>
            <a:r>
              <a:rPr b="0" i="0" lang="en-US" sz="12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Items and payments stay separate facts at any volume; that is what keeps revenue additive.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Tests as asset checks. </a:t>
            </a:r>
            <a:r>
              <a:rPr b="0" i="0" lang="en-US" sz="12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79 checks already run inside the build, not as a second system to maintain.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The asset graph. </a:t>
            </a:r>
            <a:r>
              <a:rPr b="0" i="0" lang="en-US" sz="12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New models join the lineage without rewiring the orchestrator.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Partitioning and clustering. </a:t>
            </a:r>
            <a:r>
              <a:rPr b="0" i="0" lang="en-US" sz="12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Already declared on the facts, waiting for the volume to make them matter.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34"/>
          <p:cNvSpPr/>
          <p:nvPr/>
        </p:nvSpPr>
        <p:spPr>
          <a:xfrm>
            <a:off x="6245352" y="1847088"/>
            <a:ext cx="5440680" cy="358444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34"/>
          <p:cNvSpPr/>
          <p:nvPr/>
        </p:nvSpPr>
        <p:spPr>
          <a:xfrm>
            <a:off x="6245352" y="1847088"/>
            <a:ext cx="5440680" cy="475488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34"/>
          <p:cNvSpPr txBox="1"/>
          <p:nvPr/>
        </p:nvSpPr>
        <p:spPr>
          <a:xfrm>
            <a:off x="6446520" y="1847088"/>
            <a:ext cx="5038344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WOULD CHANGE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34"/>
          <p:cNvSpPr txBox="1"/>
          <p:nvPr/>
        </p:nvSpPr>
        <p:spPr>
          <a:xfrm>
            <a:off x="6519672" y="2514600"/>
            <a:ext cx="4892040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Incremental models. </a:t>
            </a:r>
            <a:r>
              <a:rPr b="0" i="0" lang="en-US" sz="12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Marts rebuild in full today; at volume they become incremental on the partition column.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Deployment topology. </a:t>
            </a:r>
            <a:r>
              <a:rPr b="0" i="0" lang="en-US" sz="12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One VM with SQLite becomes Postgres-backed Dagster, a separate code server, per-run containers.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Ingestion pattern. </a:t>
            </a:r>
            <a:r>
              <a:rPr b="0" i="0" lang="en-US" sz="12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A static snapshot is polled; a live source moves to CDC or event-driven arrival.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Cost controls. </a:t>
            </a:r>
            <a:r>
              <a:rPr b="0" i="0" lang="en-US" sz="12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Slot reservations, byte-scanned budgets and per-consumer quotas once scans stop being trivial.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Serving layer. </a:t>
            </a:r>
            <a:r>
              <a:rPr b="0" i="0" lang="en-US" sz="12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Notebooks and the console suffice today; a BI semantic layer follows the user count.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6"/>
          <p:cNvSpPr txBox="1"/>
          <p:nvPr/>
        </p:nvSpPr>
        <p:spPr>
          <a:xfrm>
            <a:off x="502920" y="139773"/>
            <a:ext cx="8229600" cy="2000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BUSINESS VALUE  ·  DRIVER 1 OF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6"/>
          <p:cNvSpPr txBox="1"/>
          <p:nvPr/>
        </p:nvSpPr>
        <p:spPr>
          <a:xfrm>
            <a:off x="484632" y="548640"/>
            <a:ext cx="10515600" cy="4154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Delivery Reliability to safeguard Olist’s reputation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6"/>
          <p:cNvSpPr/>
          <p:nvPr/>
        </p:nvSpPr>
        <p:spPr>
          <a:xfrm>
            <a:off x="502920" y="1207008"/>
            <a:ext cx="960120" cy="50800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hart_delivery_reviews.png" id="286" name="Google Shape;286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4686" y="1322251"/>
            <a:ext cx="6263640" cy="2998361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p6"/>
          <p:cNvSpPr txBox="1"/>
          <p:nvPr/>
        </p:nvSpPr>
        <p:spPr>
          <a:xfrm>
            <a:off x="502920" y="4334256"/>
            <a:ext cx="6035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1" lang="en-US" sz="130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Avg. review score &amp; dissatisfied-customer rate, by how late the delivery ran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6"/>
          <p:cNvSpPr txBox="1"/>
          <p:nvPr/>
        </p:nvSpPr>
        <p:spPr>
          <a:xfrm>
            <a:off x="6975229" y="2250364"/>
            <a:ext cx="4800600" cy="8567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Reviews collapse fast. </a:t>
            </a:r>
            <a:r>
              <a:rPr b="0" i="0" lang="en-US" sz="16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4–7 days late is enough to flip 68% of buyers into dissatisfied customers (1–2★); beyond ~8 days the score simply floors near 1.7 — no worse.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6"/>
          <p:cNvSpPr txBox="1"/>
          <p:nvPr/>
        </p:nvSpPr>
        <p:spPr>
          <a:xfrm>
            <a:off x="502920" y="6519672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Olist marketplace analysis  ·  olist_marts (BigQuery)  ·  99,441 orders, Sep 2016 – Oct 2018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6"/>
          <p:cNvSpPr txBox="1"/>
          <p:nvPr/>
        </p:nvSpPr>
        <p:spPr>
          <a:xfrm>
            <a:off x="11475720" y="651967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6"/>
          <p:cNvSpPr txBox="1"/>
          <p:nvPr/>
        </p:nvSpPr>
        <p:spPr>
          <a:xfrm>
            <a:off x="779277" y="5008639"/>
            <a:ext cx="11155680" cy="8863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It is crucial to deliver items on-time, or at least within 3 days late, as this can have</a:t>
            </a:r>
            <a:br>
              <a:rPr b="1" i="0" lang="en-US" sz="24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4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a significant impact on review scores and hence the reputation of Olist.</a:t>
            </a:r>
            <a:endParaRPr b="1" i="0" sz="24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6"/>
          <p:cNvSpPr/>
          <p:nvPr/>
        </p:nvSpPr>
        <p:spPr>
          <a:xfrm>
            <a:off x="551157" y="5063829"/>
            <a:ext cx="11383800" cy="886397"/>
          </a:xfrm>
          <a:prstGeom prst="rect">
            <a:avLst/>
          </a:prstGeom>
          <a:noFill/>
          <a:ln cap="flat" cmpd="sng" w="47625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8"/>
          <p:cNvSpPr txBox="1"/>
          <p:nvPr/>
        </p:nvSpPr>
        <p:spPr>
          <a:xfrm>
            <a:off x="502920" y="292608"/>
            <a:ext cx="8229600" cy="2000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BUSINESS VALUE  ·  DRIVER 2 OF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8"/>
          <p:cNvSpPr txBox="1"/>
          <p:nvPr/>
        </p:nvSpPr>
        <p:spPr>
          <a:xfrm>
            <a:off x="484632" y="548640"/>
            <a:ext cx="10515600" cy="3847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Informed strategy for board: Revenue Is Concentrated in the Southeast…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8"/>
          <p:cNvSpPr/>
          <p:nvPr/>
        </p:nvSpPr>
        <p:spPr>
          <a:xfrm>
            <a:off x="502920" y="1207008"/>
            <a:ext cx="960120" cy="50800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8"/>
          <p:cNvSpPr txBox="1"/>
          <p:nvPr/>
        </p:nvSpPr>
        <p:spPr>
          <a:xfrm>
            <a:off x="502920" y="6519672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Olist marketplace analysis  ·  olist_marts (BigQuery)  ·  99,441 orders, Sep 2016 – Oct 2018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8"/>
          <p:cNvSpPr txBox="1"/>
          <p:nvPr/>
        </p:nvSpPr>
        <p:spPr>
          <a:xfrm>
            <a:off x="11475720" y="651967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8"/>
          <p:cNvSpPr txBox="1"/>
          <p:nvPr/>
        </p:nvSpPr>
        <p:spPr>
          <a:xfrm>
            <a:off x="778565" y="5619579"/>
            <a:ext cx="11155680" cy="4431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Which region of Brazil should Olist focus on growing their presence moving forward?</a:t>
            </a:r>
            <a:endParaRPr b="1" i="0" sz="24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8"/>
          <p:cNvSpPr/>
          <p:nvPr/>
        </p:nvSpPr>
        <p:spPr>
          <a:xfrm>
            <a:off x="502920" y="5605884"/>
            <a:ext cx="11383800" cy="548027"/>
          </a:xfrm>
          <a:prstGeom prst="rect">
            <a:avLst/>
          </a:prstGeom>
          <a:noFill/>
          <a:ln cap="flat" cmpd="sng" w="47625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hart_a_top20_cities.png" id="304" name="Google Shape;30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2920" y="1325880"/>
            <a:ext cx="5653735" cy="295076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hart_b_orders_vs_aov.png" id="305" name="Google Shape;305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5255" y="1325880"/>
            <a:ext cx="5306263" cy="2950768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8"/>
          <p:cNvSpPr txBox="1"/>
          <p:nvPr/>
        </p:nvSpPr>
        <p:spPr>
          <a:xfrm>
            <a:off x="502920" y="4315968"/>
            <a:ext cx="111556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Note: geography above is the customer's (delivery) location, not the seller's — Olist sellers ship nationally regardless of where the customer is.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3"/>
          <p:cNvSpPr txBox="1"/>
          <p:nvPr/>
        </p:nvSpPr>
        <p:spPr>
          <a:xfrm>
            <a:off x="502920" y="292608"/>
            <a:ext cx="8229600" cy="2000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BUSINESS VALUE  ·  SUMMARY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3"/>
          <p:cNvSpPr txBox="1"/>
          <p:nvPr/>
        </p:nvSpPr>
        <p:spPr>
          <a:xfrm>
            <a:off x="484632" y="548640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From Pipeline to Board-Ready Decisions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3"/>
          <p:cNvSpPr/>
          <p:nvPr/>
        </p:nvSpPr>
        <p:spPr>
          <a:xfrm>
            <a:off x="502920" y="1207008"/>
            <a:ext cx="960120" cy="50800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3"/>
          <p:cNvSpPr txBox="1"/>
          <p:nvPr/>
        </p:nvSpPr>
        <p:spPr>
          <a:xfrm>
            <a:off x="448056" y="1425000"/>
            <a:ext cx="11155680" cy="8863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The dbt-modeled star schema on BigQuery is what makes both drivers above possible — and every future board question answerable the same way.</a:t>
            </a:r>
            <a:endParaRPr b="1" i="0" sz="24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3"/>
          <p:cNvSpPr txBox="1"/>
          <p:nvPr/>
        </p:nvSpPr>
        <p:spPr>
          <a:xfrm>
            <a:off x="502920" y="6519672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Olist marketplace analysis  ·  olist_marts (BigQuery)  ·  99,441 orders, Sep 2016 – Oct 2018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3"/>
          <p:cNvSpPr txBox="1"/>
          <p:nvPr/>
        </p:nvSpPr>
        <p:spPr>
          <a:xfrm>
            <a:off x="11475720" y="651967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3"/>
          <p:cNvSpPr/>
          <p:nvPr/>
        </p:nvSpPr>
        <p:spPr>
          <a:xfrm>
            <a:off x="502920" y="3600000"/>
            <a:ext cx="3545840" cy="2400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3"/>
          <p:cNvSpPr/>
          <p:nvPr/>
        </p:nvSpPr>
        <p:spPr>
          <a:xfrm>
            <a:off x="502920" y="3600000"/>
            <a:ext cx="82296" cy="2400000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3"/>
          <p:cNvSpPr txBox="1"/>
          <p:nvPr/>
        </p:nvSpPr>
        <p:spPr>
          <a:xfrm>
            <a:off x="777240" y="3801168"/>
            <a:ext cx="314584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Single Source of Truth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3"/>
          <p:cNvSpPr txBox="1"/>
          <p:nvPr/>
        </p:nvSpPr>
        <p:spPr>
          <a:xfrm>
            <a:off x="777240" y="4313232"/>
            <a:ext cx="3145840" cy="1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olist_marts star schema on BigQuery gives every team the same numbers — no more dueling spreadsheets.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3"/>
          <p:cNvSpPr/>
          <p:nvPr/>
        </p:nvSpPr>
        <p:spPr>
          <a:xfrm>
            <a:off x="4323080" y="3600000"/>
            <a:ext cx="3545840" cy="2400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3"/>
          <p:cNvSpPr/>
          <p:nvPr/>
        </p:nvSpPr>
        <p:spPr>
          <a:xfrm>
            <a:off x="4323080" y="3600000"/>
            <a:ext cx="82296" cy="2400000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3"/>
          <p:cNvSpPr txBox="1"/>
          <p:nvPr/>
        </p:nvSpPr>
        <p:spPr>
          <a:xfrm>
            <a:off x="4597400" y="3801168"/>
            <a:ext cx="314584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Tested, Automated Pipeline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3"/>
          <p:cNvSpPr txBox="1"/>
          <p:nvPr/>
        </p:nvSpPr>
        <p:spPr>
          <a:xfrm>
            <a:off x="4597400" y="4313232"/>
            <a:ext cx="3145840" cy="1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dbt tests and scheduled refreshes catch errors before they ever reach a board deck.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3"/>
          <p:cNvSpPr/>
          <p:nvPr/>
        </p:nvSpPr>
        <p:spPr>
          <a:xfrm>
            <a:off x="8143240" y="3600000"/>
            <a:ext cx="3545840" cy="2400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3"/>
          <p:cNvSpPr/>
          <p:nvPr/>
        </p:nvSpPr>
        <p:spPr>
          <a:xfrm>
            <a:off x="8143240" y="3600000"/>
            <a:ext cx="82296" cy="2400000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3"/>
          <p:cNvSpPr txBox="1"/>
          <p:nvPr/>
        </p:nvSpPr>
        <p:spPr>
          <a:xfrm>
            <a:off x="8417560" y="3801168"/>
            <a:ext cx="314584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One Warehouse, Any Question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3"/>
          <p:cNvSpPr txBox="1"/>
          <p:nvPr/>
        </p:nvSpPr>
        <p:spPr>
          <a:xfrm>
            <a:off x="8417560" y="4313232"/>
            <a:ext cx="3145840" cy="1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The same warehouse powered both drivers above — and can answer the board's next question just as fast.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faa39e91dc_0_0"/>
          <p:cNvSpPr txBox="1"/>
          <p:nvPr/>
        </p:nvSpPr>
        <p:spPr>
          <a:xfrm>
            <a:off x="502920" y="292608"/>
            <a:ext cx="8229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BUSINESS VALUE  ·  APPENDIX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g3faa39e91dc_0_0"/>
          <p:cNvSpPr txBox="1"/>
          <p:nvPr/>
        </p:nvSpPr>
        <p:spPr>
          <a:xfrm>
            <a:off x="484632" y="548640"/>
            <a:ext cx="105156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Dashboard for Executive Overview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5" name="Google Shape;335;g3faa39e91dc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8775" y="1330440"/>
            <a:ext cx="9378843" cy="55275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409df0ac948_0_12"/>
          <p:cNvSpPr txBox="1"/>
          <p:nvPr/>
        </p:nvSpPr>
        <p:spPr>
          <a:xfrm>
            <a:off x="502920" y="292608"/>
            <a:ext cx="8229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BUSINESS VALUE  ·  APPENDIX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g409df0ac948_0_12"/>
          <p:cNvSpPr txBox="1"/>
          <p:nvPr/>
        </p:nvSpPr>
        <p:spPr>
          <a:xfrm>
            <a:off x="484632" y="548640"/>
            <a:ext cx="105156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Customer &amp; Seller Geography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2" name="Google Shape;342;g409df0ac948_0_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67150" y="1025640"/>
            <a:ext cx="9578238" cy="55275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fb723d6469_0_0"/>
          <p:cNvSpPr txBox="1"/>
          <p:nvPr/>
        </p:nvSpPr>
        <p:spPr>
          <a:xfrm>
            <a:off x="502920" y="292608"/>
            <a:ext cx="8229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BUSINESS VALUE  ·  APPENDIX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g3fb723d6469_0_0"/>
          <p:cNvSpPr txBox="1"/>
          <p:nvPr/>
        </p:nvSpPr>
        <p:spPr>
          <a:xfrm>
            <a:off x="484632" y="548640"/>
            <a:ext cx="105156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Customer Purchase &amp; Payment History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9" name="Google Shape;349;g3fb723d6469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3217" y="1178040"/>
            <a:ext cx="9525616" cy="55275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409df0ac948_0_19"/>
          <p:cNvSpPr txBox="1"/>
          <p:nvPr/>
        </p:nvSpPr>
        <p:spPr>
          <a:xfrm>
            <a:off x="502920" y="292608"/>
            <a:ext cx="8229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BUSINESS VALUE  ·  APPENDIX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g409df0ac948_0_19"/>
          <p:cNvSpPr txBox="1"/>
          <p:nvPr/>
        </p:nvSpPr>
        <p:spPr>
          <a:xfrm>
            <a:off x="484632" y="548640"/>
            <a:ext cx="105156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Customer Experience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6" name="Google Shape;356;g409df0ac948_0_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9948" y="1178040"/>
            <a:ext cx="9635785" cy="55275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409df0ac948_0_26"/>
          <p:cNvSpPr txBox="1"/>
          <p:nvPr/>
        </p:nvSpPr>
        <p:spPr>
          <a:xfrm>
            <a:off x="502920" y="292608"/>
            <a:ext cx="8229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BUSINESS VALUE  ·  APPENDIX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g409df0ac948_0_26"/>
          <p:cNvSpPr txBox="1"/>
          <p:nvPr/>
        </p:nvSpPr>
        <p:spPr>
          <a:xfrm>
            <a:off x="484632" y="548640"/>
            <a:ext cx="105156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Product Performance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63" name="Google Shape;363;g409df0ac948_0_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3200" y="1178040"/>
            <a:ext cx="9561186" cy="55275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fb723d6469_0_7"/>
          <p:cNvSpPr txBox="1"/>
          <p:nvPr/>
        </p:nvSpPr>
        <p:spPr>
          <a:xfrm>
            <a:off x="502920" y="292608"/>
            <a:ext cx="8229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BUSINESS VALUE  ·  APPENDIX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g3fb723d6469_0_7"/>
          <p:cNvSpPr txBox="1"/>
          <p:nvPr/>
        </p:nvSpPr>
        <p:spPr>
          <a:xfrm>
            <a:off x="484632" y="548640"/>
            <a:ext cx="105156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Regional Sales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70" name="Google Shape;370;g3fb723d6469_0_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50275" y="1094815"/>
            <a:ext cx="9490332" cy="55275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409df0ac948_0_33"/>
          <p:cNvSpPr txBox="1"/>
          <p:nvPr/>
        </p:nvSpPr>
        <p:spPr>
          <a:xfrm>
            <a:off x="502920" y="292608"/>
            <a:ext cx="8229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BUSINESS VALUE  ·  APPENDIX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g409df0ac948_0_33"/>
          <p:cNvSpPr txBox="1"/>
          <p:nvPr/>
        </p:nvSpPr>
        <p:spPr>
          <a:xfrm>
            <a:off x="484632" y="548640"/>
            <a:ext cx="105156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Customer Value &amp; Retention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77" name="Google Shape;377;g409df0ac948_0_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9852" y="1178040"/>
            <a:ext cx="9635785" cy="55275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409df0ac948_0_0"/>
          <p:cNvSpPr txBox="1"/>
          <p:nvPr/>
        </p:nvSpPr>
        <p:spPr>
          <a:xfrm>
            <a:off x="502920" y="292608"/>
            <a:ext cx="8229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BUSINESS VALUE  ·  APPENDIX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g409df0ac948_0_0"/>
          <p:cNvSpPr txBox="1"/>
          <p:nvPr/>
        </p:nvSpPr>
        <p:spPr>
          <a:xfrm>
            <a:off x="484632" y="548640"/>
            <a:ext cx="105156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Brazilian States, by Regions with Top 10 revenue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g409df0ac948_0_0"/>
          <p:cNvSpPr/>
          <p:nvPr/>
        </p:nvSpPr>
        <p:spPr>
          <a:xfrm>
            <a:off x="502920" y="1207008"/>
            <a:ext cx="960000" cy="50700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g409df0ac948_0_0"/>
          <p:cNvSpPr txBox="1"/>
          <p:nvPr/>
        </p:nvSpPr>
        <p:spPr>
          <a:xfrm>
            <a:off x="502920" y="1417320"/>
            <a:ext cx="11155800" cy="59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We use Streamlit to provide a visualisation of the regions that have generated the top 10 revenue. PowerBI has limitation to provide this data.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g409df0ac948_0_0"/>
          <p:cNvSpPr txBox="1"/>
          <p:nvPr/>
        </p:nvSpPr>
        <p:spPr>
          <a:xfrm>
            <a:off x="502920" y="6519672"/>
            <a:ext cx="8686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Olist marketplace analysis  ·  olist_marts (BigQuery)  ·  99,441 orders, Sep 2016 – Oct 2018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g409df0ac948_0_0"/>
          <p:cNvSpPr txBox="1"/>
          <p:nvPr/>
        </p:nvSpPr>
        <p:spPr>
          <a:xfrm>
            <a:off x="11475720" y="6519672"/>
            <a:ext cx="365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8" name="Google Shape;388;g409df0ac948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1113" y="2052301"/>
            <a:ext cx="7730424" cy="40165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10"/>
          <p:cNvSpPr txBox="1"/>
          <p:nvPr/>
        </p:nvSpPr>
        <p:spPr>
          <a:xfrm>
            <a:off x="502920" y="292608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BUSINESS VALUE  ·  APPENDIX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10"/>
          <p:cNvSpPr txBox="1"/>
          <p:nvPr/>
        </p:nvSpPr>
        <p:spPr>
          <a:xfrm>
            <a:off x="484632" y="548640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Brazilian States, by Region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10"/>
          <p:cNvSpPr/>
          <p:nvPr/>
        </p:nvSpPr>
        <p:spPr>
          <a:xfrm>
            <a:off x="502920" y="1207008"/>
            <a:ext cx="960120" cy="50800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0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All 27 Brazilian states (26 states plus the Federal District), mapped to their official IBGE region — the same regions used in Section 3's Northeast-vs-core comparisons.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97" name="Google Shape;397;p10"/>
          <p:cNvGraphicFramePr/>
          <p:nvPr/>
        </p:nvGraphicFramePr>
        <p:xfrm>
          <a:off x="502920" y="2076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{B9C70205-BEE1-440A-9A42-65389452891D}</a:tableStyleId>
              </a:tblPr>
              <a:tblGrid>
                <a:gridCol w="760000"/>
                <a:gridCol w="2680000"/>
                <a:gridCol w="2050000"/>
              </a:tblGrid>
              <a:tr h="304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Full name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Region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14304D"/>
                    </a:solidFill>
                  </a:tcPr>
                </a:tc>
              </a:tr>
              <a:tr h="304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Acre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</a:tr>
              <a:tr h="304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Amapá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</a:tr>
              <a:tr h="304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AM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Amazonas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</a:tr>
              <a:tr h="304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Pará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</a:tr>
              <a:tr h="304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Rondônia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</a:tr>
              <a:tr h="304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RR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Roraima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</a:tr>
              <a:tr h="304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Tocantins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</a:tr>
              <a:tr h="304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Alagoas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Northeast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</a:tr>
              <a:tr h="304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Bahia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Northeast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</a:tr>
              <a:tr h="304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CE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Ceará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Northeast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</a:tr>
              <a:tr h="304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Maranhão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Northeast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</a:tr>
              <a:tr h="304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PB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Paraíba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Northeast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</a:tr>
              <a:tr h="304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Pernambuco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Northeast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98" name="Google Shape;398;p10"/>
          <p:cNvGraphicFramePr/>
          <p:nvPr/>
        </p:nvGraphicFramePr>
        <p:xfrm>
          <a:off x="6232920" y="2076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{B9C70205-BEE1-440A-9A42-65389452891D}</a:tableStyleId>
              </a:tblPr>
              <a:tblGrid>
                <a:gridCol w="760000"/>
                <a:gridCol w="2680000"/>
                <a:gridCol w="2050000"/>
              </a:tblGrid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Full name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Region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14304D"/>
                    </a:solidFill>
                  </a:tcPr>
                </a:tc>
              </a:tr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PI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Piauí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Northeast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</a:tr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RN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Rio Grande do Norte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Northeast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</a:tr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Sergipe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Northeast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</a:tr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DF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Distrito Federal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Central-West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</a:tr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Goiás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Central-West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</a:tr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Mato Grosso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Central-West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</a:tr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MS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Mato Grosso do Sul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Central-West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</a:tr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Espírito Santo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Southeast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</a:tr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MG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Minas Gerais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Southeast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</a:tr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RJ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Rio de Janeiro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Southeast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</a:tr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São Paulo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Southeast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</a:tr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Paraná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South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</a:tr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RS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Rio Grande do Sul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South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</a:tr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Santa Catarina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South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399" name="Google Shape;399;p10"/>
          <p:cNvSpPr txBox="1"/>
          <p:nvPr/>
        </p:nvSpPr>
        <p:spPr>
          <a:xfrm>
            <a:off x="502920" y="6519672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Olist marketplace analysis  ·  olist_marts (BigQuery)  ·  99,441 orders, Sep 2016 – Oct 2018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10"/>
          <p:cNvSpPr txBox="1"/>
          <p:nvPr/>
        </p:nvSpPr>
        <p:spPr>
          <a:xfrm>
            <a:off x="11475720" y="651967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10"/>
          <p:cNvSpPr txBox="1"/>
          <p:nvPr/>
        </p:nvSpPr>
        <p:spPr>
          <a:xfrm>
            <a:off x="502920" y="6336000"/>
            <a:ext cx="11155680" cy="1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Source: IBGE — Divisoes Regionais do Brasil (ibge.gov.br/geociencias/organizacao-do-territorio/divisao-regional/15778-divisoes-regionais-do-brasil.html), the Brazilian federal statistics agency responsible for the official state-to-region division.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