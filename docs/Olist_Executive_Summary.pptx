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29" roundtripDataSignature="AMtx7mgEvtLweebKcuu0pRcFkKun1shYB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EABAEE2-BCA0-415B-86C0-DFA73D7E2789}">
  <a:tblStyle styleId="{FEABAEE2-BCA0-415B-86C0-DFA73D7E2789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 b="off" i="off"/>
      <a:tcStyle>
        <a:fill>
          <a:solidFill>
            <a:srgbClr val="CFD7E7"/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CFD7E7"/>
          </a:solidFill>
        </a:fill>
      </a:tcStyle>
    </a:band1V>
    <a:band2V>
      <a:tcTxStyle b="off" i="off"/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 b="off" i="off"/>
    </a:seCell>
    <a:swCell>
      <a:tcTxStyle b="off" i="off"/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</a:neCell>
    <a:nwCell>
      <a:tcTxStyle b="off" i="off"/>
    </a:nwCell>
  </a:tblStyle>
  <a:tblStyle styleId="{C796153C-F114-4815-A74F-1C015B028501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 b="off" i="off"/>
      <a:tcStyle>
        <a:fill>
          <a:solidFill>
            <a:srgbClr val="CFD7E7"/>
          </a:solidFill>
        </a:fill>
      </a:tcStyle>
    </a:band1H>
    <a:band2H>
      <a:tcTxStyle b="off" i="off"/>
    </a:band2H>
    <a:band1V>
      <a:tcTxStyle b="off" i="off"/>
      <a:tcStyle>
        <a:fill>
          <a:solidFill>
            <a:srgbClr val="CFD7E7"/>
          </a:solidFill>
        </a:fill>
      </a:tcStyle>
    </a:band1V>
    <a:band2V>
      <a:tcTxStyle b="off" i="off"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 b="off" i="off"/>
    </a:seCell>
    <a:swCell>
      <a:tcTxStyle b="off" i="off"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 b="off" i="off"/>
    </a:neCell>
    <a:nwCell>
      <a:tcTxStyle b="off" i="off"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customschemas.google.com/relationships/presentationmetadata" Target="meta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2" name="Google Shape;92;p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US"/>
              <a:t>Marketing numbers = 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22" name="Google Shape;122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3" name="Google Shape;143;p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US" sz="1100"/>
              <a:t>This is the map; the next slide is the contract. Walk it left to right in about forty seconds — source, raw zone, load, warehouse, consumption — then point out zone 6, data quality, validating staging and marts, and the orange band underneath holding it all together. Two things worth saying out loud: the consumption zone on the right now shows every reader of the marts — the notebook, the Streamlit dashboard behind its Flask API, and the Power BI report authored outside the repo — and the whole diagram regenerates from Python, so it is current by construction.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4" name="Google Shape;154;p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US" sz="1100"/>
              <a:t>The left column is the answer to 'how do you know the data is right?' — each contract turns a class of silent corruption into a failed run. The right column is the answer to 'who runs it?' — nobody; a clock starts ingestion and an event starts the transforms.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87" name="Google Shape;187;p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US" sz="1100"/>
              <a:t>If a CTO pushes on any row, the answer is in the right-hand column — we know what we declined and why. The dbt Core vs dbt Cloud line is the one most likely to be challenged: the deciding factor was model-level lineage, not licence cost.</a:t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8" name="Google Shape;198;p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US" sz="1100"/>
              <a:t>This is the schema-design justification. The one thing to land with a business audience: the orange box. Getting this wrong is how a marketplace reports revenue that does not exist — and the design makes that mistake structurally impossible rather than a rule people have to remember.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p3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10" name="Google Shape;210;p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US" sz="1100"/>
              <a:t>The left column is coverage, the right column is behaviour — the second matters more. The line that lands with executives: nothing is repaired silently. A test that quietly fixed a bad row would give you a clean dashboard over a broken pipeline.</a:t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3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6" name="Google Shape;236;p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US" sz="1100"/>
              <a:t>Lead with the orange card if asked what keeps us up at night. Naming an uncovered gap is deliberate: the reconciliation flag exists and is queryable, but no test blocks on it, so we will not claim coverage we do not have.</a:t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3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70" name="Google Shape;270;p3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-US" sz="1100"/>
              <a:t>The caveat at the bottom is the credibility line. Claiming a performance win at 120 MB would be the easiest thing in this deck to disprove, so we say plainly that the layout is intent rather than result.</a:t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90" name="Google Shape;290;p1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13" name="Google Shape;313;p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27" name="Google Shape;327;p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g3faa39e91dc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41" name="Google Shape;341;g3faa39e91dc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g409df0ac948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48" name="Google Shape;348;g409df0ac948_0_12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g3fb723d646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55" name="Google Shape;355;g3fb723d6469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g409df0ac948_0_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62" name="Google Shape;362;g409df0ac948_0_19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g409df0ac948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69" name="Google Shape;369;g409df0ac948_0_2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g3fb723d6469_0_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76" name="Google Shape;376;g3fb723d6469_0_7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g409df0ac948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83" name="Google Shape;383;g409df0ac948_0_33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g409df0ac94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90" name="Google Shape;390;g409df0ac94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401" name="Google Shape;401;p1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7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7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8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9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9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20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20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2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1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21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21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21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3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23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23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4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24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24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25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2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2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2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6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6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" name="Google Shape;7;p15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2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8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14304D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0" y="5989320"/>
            <a:ext cx="12191695" cy="54864"/>
          </a:xfrm>
          <a:prstGeom prst="rect">
            <a:avLst/>
          </a:prstGeom>
          <a:solidFill>
            <a:srgbClr val="E079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"/>
          <p:cNvSpPr txBox="1"/>
          <p:nvPr/>
        </p:nvSpPr>
        <p:spPr>
          <a:xfrm>
            <a:off x="822960" y="2148840"/>
            <a:ext cx="10515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OLIST MARKETPLACE  ·  BOARD &amp; INVESTOR REVIEW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804672" y="2514600"/>
            <a:ext cx="1060704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n-US" sz="4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Built to Answer the Board: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" name="Google Shape;87;p1"/>
          <p:cNvSpPr txBox="1"/>
          <p:nvPr/>
        </p:nvSpPr>
        <p:spPr>
          <a:xfrm>
            <a:off x="804672" y="3154680"/>
            <a:ext cx="10607040" cy="1097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000"/>
              <a:buFont typeface="Arial"/>
              <a:buNone/>
            </a:pPr>
            <a:r>
              <a:rPr b="1" i="0" lang="en-US" sz="4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Delivery, Retention &amp; Growth Opportunities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0" i="0" lang="en-US" sz="1700" u="none" cap="none" strike="noStrike">
                <a:solidFill>
                  <a:srgbClr val="C9D6E2"/>
                </a:solidFill>
                <a:latin typeface="Calibri"/>
                <a:ea typeface="Calibri"/>
                <a:cs typeface="Calibri"/>
                <a:sym typeface="Calibri"/>
              </a:rPr>
              <a:t>Executive Summary &amp; Business Value  —  built for board and</a:t>
            </a:r>
            <a:br>
              <a:rPr b="0" i="0" lang="en-US" sz="1700" u="none" cap="none" strike="noStrike">
                <a:solidFill>
                  <a:srgbClr val="C9D6E2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700" u="none" cap="none" strike="noStrike">
                <a:solidFill>
                  <a:srgbClr val="C9D6E2"/>
                </a:solidFill>
                <a:latin typeface="Calibri"/>
                <a:ea typeface="Calibri"/>
                <a:cs typeface="Calibri"/>
                <a:sym typeface="Calibri"/>
              </a:rPr>
              <a:t>investor accountability after Olist's Series C.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1"/>
          <p:cNvSpPr txBox="1"/>
          <p:nvPr/>
        </p:nvSpPr>
        <p:spPr>
          <a:xfrm>
            <a:off x="822960" y="617220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8C9CAD"/>
                </a:solidFill>
                <a:latin typeface="Calibri"/>
                <a:ea typeface="Calibri"/>
                <a:cs typeface="Calibri"/>
                <a:sym typeface="Calibri"/>
              </a:rPr>
              <a:t>NTU DSAI · Group 5 Project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7"/>
          <p:cNvSpPr txBox="1"/>
          <p:nvPr/>
        </p:nvSpPr>
        <p:spPr>
          <a:xfrm>
            <a:off x="502920" y="292608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INTRODUCTION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5" name="Google Shape;95;p27"/>
          <p:cNvSpPr txBox="1"/>
          <p:nvPr/>
        </p:nvSpPr>
        <p:spPr>
          <a:xfrm>
            <a:off x="484632" y="548640"/>
            <a:ext cx="11155680" cy="4616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The Numbers War – Board and investor accountability</a:t>
            </a:r>
            <a:endParaRPr b="1" i="0" sz="3000" u="none" cap="none" strike="noStrike">
              <a:solidFill>
                <a:srgbClr val="14304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27"/>
          <p:cNvSpPr/>
          <p:nvPr/>
        </p:nvSpPr>
        <p:spPr>
          <a:xfrm>
            <a:off x="502920" y="1207008"/>
            <a:ext cx="960120" cy="50800"/>
          </a:xfrm>
          <a:prstGeom prst="rect">
            <a:avLst/>
          </a:prstGeom>
          <a:solidFill>
            <a:srgbClr val="E079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27"/>
          <p:cNvSpPr txBox="1"/>
          <p:nvPr/>
        </p:nvSpPr>
        <p:spPr>
          <a:xfrm>
            <a:off x="502920" y="1417320"/>
            <a:ext cx="11155680" cy="7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Olist just closed a Series C. The board wants one number for delivery, margins, and growth — but with no single source of truth, three teams pulled the same orders into three spreadsheets and got three different truths.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27"/>
          <p:cNvSpPr txBox="1"/>
          <p:nvPr/>
        </p:nvSpPr>
        <p:spPr>
          <a:xfrm>
            <a:off x="502920" y="2280000"/>
            <a:ext cx="80000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HOW THIS PLATFORM CAME TO EXIST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27"/>
          <p:cNvSpPr/>
          <p:nvPr/>
        </p:nvSpPr>
        <p:spPr>
          <a:xfrm>
            <a:off x="502920" y="2620000"/>
            <a:ext cx="3529584" cy="241434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DE2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27"/>
          <p:cNvSpPr/>
          <p:nvPr/>
        </p:nvSpPr>
        <p:spPr>
          <a:xfrm>
            <a:off x="502920" y="2620000"/>
            <a:ext cx="82296" cy="2180000"/>
          </a:xfrm>
          <a:prstGeom prst="rect">
            <a:avLst/>
          </a:prstGeom>
          <a:solidFill>
            <a:srgbClr val="E079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1" name="Google Shape;101;p27"/>
          <p:cNvSpPr txBox="1"/>
          <p:nvPr/>
        </p:nvSpPr>
        <p:spPr>
          <a:xfrm>
            <a:off x="777240" y="2821168"/>
            <a:ext cx="302666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The Crisis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27"/>
          <p:cNvSpPr txBox="1"/>
          <p:nvPr/>
        </p:nvSpPr>
        <p:spPr>
          <a:xfrm>
            <a:off x="777240" y="3333232"/>
            <a:ext cx="3026664" cy="13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Marketing counted R$13.5M in sales. Ops counted R$15.7M with freight. Finance booked R$16.0M in payments, fulfilled or not. Same orders, three answers — no single source of truth.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27"/>
          <p:cNvSpPr/>
          <p:nvPr/>
        </p:nvSpPr>
        <p:spPr>
          <a:xfrm>
            <a:off x="4251960" y="2620000"/>
            <a:ext cx="3529584" cy="241434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DE2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4" name="Google Shape;104;p27"/>
          <p:cNvSpPr/>
          <p:nvPr/>
        </p:nvSpPr>
        <p:spPr>
          <a:xfrm>
            <a:off x="4251960" y="2620000"/>
            <a:ext cx="82296" cy="2180000"/>
          </a:xfrm>
          <a:prstGeom prst="rect">
            <a:avLst/>
          </a:prstGeom>
          <a:solidFill>
            <a:srgbClr val="E079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5" name="Google Shape;105;p27"/>
          <p:cNvSpPr txBox="1"/>
          <p:nvPr/>
        </p:nvSpPr>
        <p:spPr>
          <a:xfrm>
            <a:off x="4526280" y="2821168"/>
            <a:ext cx="302666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The Mandate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6" name="Google Shape;106;p27"/>
          <p:cNvSpPr txBox="1"/>
          <p:nvPr/>
        </p:nvSpPr>
        <p:spPr>
          <a:xfrm>
            <a:off x="4526280" y="3333232"/>
            <a:ext cx="3026664" cy="13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The CEO's verdict: one warehouse, one tested set of business rules, refreshed every morning before the leadership stand-up — owned by a lean data team based in Singapore.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7" name="Google Shape;107;p27"/>
          <p:cNvSpPr/>
          <p:nvPr/>
        </p:nvSpPr>
        <p:spPr>
          <a:xfrm>
            <a:off x="8001000" y="2620000"/>
            <a:ext cx="3529584" cy="2489344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DE2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8" name="Google Shape;108;p27"/>
          <p:cNvSpPr/>
          <p:nvPr/>
        </p:nvSpPr>
        <p:spPr>
          <a:xfrm>
            <a:off x="8001000" y="2620000"/>
            <a:ext cx="82296" cy="2180000"/>
          </a:xfrm>
          <a:prstGeom prst="rect">
            <a:avLst/>
          </a:prstGeom>
          <a:solidFill>
            <a:srgbClr val="E079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9" name="Google Shape;109;p27"/>
          <p:cNvSpPr txBox="1"/>
          <p:nvPr/>
        </p:nvSpPr>
        <p:spPr>
          <a:xfrm>
            <a:off x="8275320" y="2821168"/>
            <a:ext cx="3026664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The Platform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p27"/>
          <p:cNvSpPr txBox="1"/>
          <p:nvPr/>
        </p:nvSpPr>
        <p:spPr>
          <a:xfrm>
            <a:off x="8275320" y="3333232"/>
            <a:ext cx="3026664" cy="135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What follows is the response: a validated star schema, 79 automated tests, and a pipeline that rebuilds itself daily at 08:00 SGT — one number, everywhere.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27"/>
          <p:cNvSpPr txBox="1"/>
          <p:nvPr/>
        </p:nvSpPr>
        <p:spPr>
          <a:xfrm>
            <a:off x="3992232" y="3550000"/>
            <a:ext cx="300000" cy="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2" name="Google Shape;112;p27"/>
          <p:cNvSpPr txBox="1"/>
          <p:nvPr/>
        </p:nvSpPr>
        <p:spPr>
          <a:xfrm>
            <a:off x="7741272" y="3550000"/>
            <a:ext cx="300000" cy="32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27"/>
          <p:cNvSpPr/>
          <p:nvPr/>
        </p:nvSpPr>
        <p:spPr>
          <a:xfrm>
            <a:off x="1292232" y="5730000"/>
            <a:ext cx="3000000" cy="430000"/>
          </a:xfrm>
          <a:prstGeom prst="roundRect">
            <a:avLst>
              <a:gd fmla="val 50000" name="adj"/>
            </a:avLst>
          </a:prstGeom>
          <a:solidFill>
            <a:srgbClr val="F4F6F8"/>
          </a:solidFill>
          <a:ln cap="flat" cmpd="sng" w="9525">
            <a:solidFill>
              <a:srgbClr val="DDE2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0" spcFirstLastPara="1" rIns="0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EXECUTIVE SUMMARY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27"/>
          <p:cNvSpPr/>
          <p:nvPr/>
        </p:nvSpPr>
        <p:spPr>
          <a:xfrm>
            <a:off x="4572232" y="5730000"/>
            <a:ext cx="3000000" cy="430000"/>
          </a:xfrm>
          <a:prstGeom prst="roundRect">
            <a:avLst>
              <a:gd fmla="val 50000" name="adj"/>
            </a:avLst>
          </a:prstGeom>
          <a:solidFill>
            <a:srgbClr val="F4F6F8"/>
          </a:solidFill>
          <a:ln cap="flat" cmpd="sng" w="9525">
            <a:solidFill>
              <a:srgbClr val="DDE2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0" spcFirstLastPara="1" rIns="0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TECHNICAL FOUNDATION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27"/>
          <p:cNvSpPr/>
          <p:nvPr/>
        </p:nvSpPr>
        <p:spPr>
          <a:xfrm>
            <a:off x="7852232" y="5730000"/>
            <a:ext cx="3000000" cy="430000"/>
          </a:xfrm>
          <a:prstGeom prst="roundRect">
            <a:avLst>
              <a:gd fmla="val 50000" name="adj"/>
            </a:avLst>
          </a:prstGeom>
          <a:solidFill>
            <a:srgbClr val="F4F6F8"/>
          </a:solidFill>
          <a:ln cap="flat" cmpd="sng" w="9525">
            <a:solidFill>
              <a:srgbClr val="DDE2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0" spcFirstLastPara="1" rIns="0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BUSINESS VALUE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6" name="Google Shape;116;p27"/>
          <p:cNvSpPr txBox="1"/>
          <p:nvPr/>
        </p:nvSpPr>
        <p:spPr>
          <a:xfrm>
            <a:off x="4292232" y="5805000"/>
            <a:ext cx="280000" cy="2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7" name="Google Shape;117;p27"/>
          <p:cNvSpPr txBox="1"/>
          <p:nvPr/>
        </p:nvSpPr>
        <p:spPr>
          <a:xfrm>
            <a:off x="7572232" y="5805000"/>
            <a:ext cx="280000" cy="2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→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27"/>
          <p:cNvSpPr txBox="1"/>
          <p:nvPr/>
        </p:nvSpPr>
        <p:spPr>
          <a:xfrm>
            <a:off x="502920" y="6519672"/>
            <a:ext cx="8686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Olist marketplace analysis  ·  olist_marts (BigQuery)  ·  99,441 orders, Sep 2016 – Oct 2018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7"/>
          <p:cNvSpPr txBox="1"/>
          <p:nvPr/>
        </p:nvSpPr>
        <p:spPr>
          <a:xfrm>
            <a:off x="11475720" y="6519672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8FA"/>
        </a:soli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"/>
          <p:cNvSpPr txBox="1"/>
          <p:nvPr/>
        </p:nvSpPr>
        <p:spPr>
          <a:xfrm>
            <a:off x="502920" y="292608"/>
            <a:ext cx="8229600" cy="2000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EXECUTIVE SUMMARY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2"/>
          <p:cNvSpPr txBox="1"/>
          <p:nvPr/>
        </p:nvSpPr>
        <p:spPr>
          <a:xfrm>
            <a:off x="484632" y="548640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The Fix: One Pipeline, One Source of Truth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6" name="Google Shape;126;p2"/>
          <p:cNvSpPr/>
          <p:nvPr/>
        </p:nvSpPr>
        <p:spPr>
          <a:xfrm>
            <a:off x="502920" y="1207008"/>
            <a:ext cx="960120" cy="50800"/>
          </a:xfrm>
          <a:prstGeom prst="rect">
            <a:avLst/>
          </a:prstGeom>
          <a:solidFill>
            <a:srgbClr val="E079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7" name="Google Shape;127;p2"/>
          <p:cNvSpPr txBox="1"/>
          <p:nvPr/>
        </p:nvSpPr>
        <p:spPr>
          <a:xfrm>
            <a:off x="448056" y="1843401"/>
            <a:ext cx="11155680" cy="8863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Solution: A single source of truth, built to enable the analysis which grow the business and satisfy the board and investors.</a:t>
            </a:r>
            <a:endParaRPr b="1" i="0" sz="24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8" name="Google Shape;128;p2"/>
          <p:cNvSpPr/>
          <p:nvPr/>
        </p:nvSpPr>
        <p:spPr>
          <a:xfrm>
            <a:off x="1463040" y="3995584"/>
            <a:ext cx="3529584" cy="196596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DE2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2"/>
          <p:cNvSpPr/>
          <p:nvPr/>
        </p:nvSpPr>
        <p:spPr>
          <a:xfrm>
            <a:off x="1463040" y="3995584"/>
            <a:ext cx="82296" cy="1965960"/>
          </a:xfrm>
          <a:prstGeom prst="rect">
            <a:avLst/>
          </a:prstGeom>
          <a:solidFill>
            <a:srgbClr val="E079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2"/>
          <p:cNvSpPr txBox="1"/>
          <p:nvPr/>
        </p:nvSpPr>
        <p:spPr>
          <a:xfrm>
            <a:off x="1737360" y="4196752"/>
            <a:ext cx="3026664" cy="2462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1. Delivery &amp; reviews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1" name="Google Shape;131;p2"/>
          <p:cNvSpPr txBox="1"/>
          <p:nvPr/>
        </p:nvSpPr>
        <p:spPr>
          <a:xfrm>
            <a:off x="1737360" y="4708816"/>
            <a:ext cx="3026664" cy="90120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Does a late delivery drag down customer reviews — and does that cost revenue?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2"/>
          <p:cNvSpPr/>
          <p:nvPr/>
        </p:nvSpPr>
        <p:spPr>
          <a:xfrm>
            <a:off x="5212080" y="3995584"/>
            <a:ext cx="82296" cy="1965960"/>
          </a:xfrm>
          <a:prstGeom prst="rect">
            <a:avLst/>
          </a:prstGeom>
          <a:solidFill>
            <a:srgbClr val="E079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2"/>
          <p:cNvSpPr/>
          <p:nvPr/>
        </p:nvSpPr>
        <p:spPr>
          <a:xfrm>
            <a:off x="6391656" y="3918242"/>
            <a:ext cx="3529584" cy="196596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DE2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2"/>
          <p:cNvSpPr/>
          <p:nvPr/>
        </p:nvSpPr>
        <p:spPr>
          <a:xfrm>
            <a:off x="6391656" y="3918242"/>
            <a:ext cx="82296" cy="1965960"/>
          </a:xfrm>
          <a:prstGeom prst="rect">
            <a:avLst/>
          </a:prstGeom>
          <a:solidFill>
            <a:srgbClr val="E079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2"/>
          <p:cNvSpPr txBox="1"/>
          <p:nvPr/>
        </p:nvSpPr>
        <p:spPr>
          <a:xfrm>
            <a:off x="6665976" y="4119410"/>
            <a:ext cx="3026664" cy="2462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2. Geography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6" name="Google Shape;136;p2"/>
          <p:cNvSpPr txBox="1"/>
          <p:nvPr/>
        </p:nvSpPr>
        <p:spPr>
          <a:xfrm>
            <a:off x="6665976" y="4631474"/>
            <a:ext cx="3026664" cy="90120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Where does revenue actually come from, and how should growth spend follow it?</a:t>
            </a:r>
            <a:endParaRPr b="0" i="0" sz="1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7" name="Google Shape;137;p2"/>
          <p:cNvSpPr txBox="1"/>
          <p:nvPr/>
        </p:nvSpPr>
        <p:spPr>
          <a:xfrm>
            <a:off x="502920" y="6519672"/>
            <a:ext cx="8686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Olist marketplace analysis  ·  olist_marts (BigQuery)  ·  99,441 orders, Sep 2016 – Oct 2018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8" name="Google Shape;138;p2"/>
          <p:cNvSpPr txBox="1"/>
          <p:nvPr/>
        </p:nvSpPr>
        <p:spPr>
          <a:xfrm>
            <a:off x="11475720" y="6519672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9" name="Google Shape;139;p2"/>
          <p:cNvSpPr/>
          <p:nvPr/>
        </p:nvSpPr>
        <p:spPr>
          <a:xfrm>
            <a:off x="286113" y="1591459"/>
            <a:ext cx="11383800" cy="1350600"/>
          </a:xfrm>
          <a:prstGeom prst="rect">
            <a:avLst/>
          </a:prstGeom>
          <a:noFill/>
          <a:ln cap="flat" cmpd="sng" w="47625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0" name="Google Shape;140;p2"/>
          <p:cNvSpPr txBox="1"/>
          <p:nvPr/>
        </p:nvSpPr>
        <p:spPr>
          <a:xfrm>
            <a:off x="448056" y="3517364"/>
            <a:ext cx="8000000" cy="2000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ILLUSTRATIVE USE CASES:</a:t>
            </a:r>
            <a:endParaRPr b="1" i="0" sz="1300" u="none" cap="none" strike="noStrike">
              <a:solidFill>
                <a:srgbClr val="E0793A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8FA"/>
        </a:solid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8"/>
          <p:cNvSpPr txBox="1"/>
          <p:nvPr/>
        </p:nvSpPr>
        <p:spPr>
          <a:xfrm>
            <a:off x="502920" y="292608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TECHNICAL FOUNDATION  ·  1 OF 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6" name="Google Shape;146;p28"/>
          <p:cNvSpPr txBox="1"/>
          <p:nvPr/>
        </p:nvSpPr>
        <p:spPr>
          <a:xfrm>
            <a:off x="502920" y="6519672"/>
            <a:ext cx="8686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Olist marketplace analysis  ·  olist_marts (BigQuery)  ·  99,441 orders, Sep 2016 – Oct 2018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28"/>
          <p:cNvSpPr txBox="1"/>
          <p:nvPr/>
        </p:nvSpPr>
        <p:spPr>
          <a:xfrm>
            <a:off x="11475720" y="6519672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28"/>
          <p:cNvSpPr txBox="1"/>
          <p:nvPr/>
        </p:nvSpPr>
        <p:spPr>
          <a:xfrm>
            <a:off x="502920" y="841248"/>
            <a:ext cx="224028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b="1" i="0" lang="en-US" sz="23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High-Level Architecture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28"/>
          <p:cNvSpPr/>
          <p:nvPr/>
        </p:nvSpPr>
        <p:spPr>
          <a:xfrm>
            <a:off x="502920" y="2212848"/>
            <a:ext cx="960120" cy="54864"/>
          </a:xfrm>
          <a:prstGeom prst="rect">
            <a:avLst/>
          </a:prstGeom>
          <a:solidFill>
            <a:srgbClr val="E079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0" name="Google Shape;150;p28"/>
          <p:cNvSpPr txBox="1"/>
          <p:nvPr/>
        </p:nvSpPr>
        <p:spPr>
          <a:xfrm>
            <a:off x="502920" y="2468880"/>
            <a:ext cx="2240280" cy="31089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Six zones, one flow. </a:t>
            </a:r>
            <a:r>
              <a:rPr b="0" i="0" lang="en-US" sz="120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Solid arrows are data moving; dashed arrows are control and validation.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0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Everything inside runs as one Dagster asset graph — the contracts each layer keeps are on the next slide.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8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1" i="0" lang="en-US" sz="105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Generated from code: </a:t>
            </a:r>
            <a:r>
              <a:rPr b="0" i="0" lang="en-US" sz="10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docs/diagrams/generate_diagrams.py, so the picture cannot drift from the pipeline.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rch-diagram.png" id="151" name="Google Shape;151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971800" y="658368"/>
            <a:ext cx="8714232" cy="545103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8FA"/>
        </a:solid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9"/>
          <p:cNvSpPr txBox="1"/>
          <p:nvPr/>
        </p:nvSpPr>
        <p:spPr>
          <a:xfrm>
            <a:off x="502920" y="292608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TECHNICAL FOUNDATION  ·  2 OF 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7" name="Google Shape;157;p29"/>
          <p:cNvSpPr txBox="1"/>
          <p:nvPr/>
        </p:nvSpPr>
        <p:spPr>
          <a:xfrm>
            <a:off x="484632" y="548640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What Each Layer Promises, and What Sets It Running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29"/>
          <p:cNvSpPr/>
          <p:nvPr/>
        </p:nvSpPr>
        <p:spPr>
          <a:xfrm>
            <a:off x="502920" y="1207008"/>
            <a:ext cx="960120" cy="54864"/>
          </a:xfrm>
          <a:prstGeom prst="rect">
            <a:avLst/>
          </a:prstGeom>
          <a:solidFill>
            <a:srgbClr val="E079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29"/>
          <p:cNvSpPr txBox="1"/>
          <p:nvPr/>
        </p:nvSpPr>
        <p:spPr>
          <a:xfrm>
            <a:off x="502920" y="6519672"/>
            <a:ext cx="8686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Olist marketplace analysis  ·  olist_marts (BigQuery)  ·  99,441 orders, Sep 2016 – Oct 2018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0" name="Google Shape;160;p29"/>
          <p:cNvSpPr txBox="1"/>
          <p:nvPr/>
        </p:nvSpPr>
        <p:spPr>
          <a:xfrm>
            <a:off x="11475720" y="6519672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7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1" name="Google Shape;161;p29"/>
          <p:cNvSpPr txBox="1"/>
          <p:nvPr/>
        </p:nvSpPr>
        <p:spPr>
          <a:xfrm>
            <a:off x="502920" y="1389888"/>
            <a:ext cx="11155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The diagram shows the shape of the platform. These are the rules that keep it trustworthy when it runs unattended.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2" name="Google Shape;162;p29"/>
          <p:cNvSpPr/>
          <p:nvPr/>
        </p:nvSpPr>
        <p:spPr>
          <a:xfrm>
            <a:off x="502920" y="1847088"/>
            <a:ext cx="5623560" cy="43434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DE2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29"/>
          <p:cNvSpPr/>
          <p:nvPr/>
        </p:nvSpPr>
        <p:spPr>
          <a:xfrm>
            <a:off x="502920" y="1847088"/>
            <a:ext cx="5623560" cy="475488"/>
          </a:xfrm>
          <a:prstGeom prst="rect">
            <a:avLst/>
          </a:prstGeom>
          <a:solidFill>
            <a:srgbClr val="14304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29"/>
          <p:cNvSpPr txBox="1"/>
          <p:nvPr/>
        </p:nvSpPr>
        <p:spPr>
          <a:xfrm>
            <a:off x="704088" y="1847088"/>
            <a:ext cx="5221224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THE CONTRACT EACH LAYER KEEPS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29"/>
          <p:cNvSpPr txBox="1"/>
          <p:nvPr/>
        </p:nvSpPr>
        <p:spPr>
          <a:xfrm>
            <a:off x="777240" y="2487168"/>
            <a:ext cx="5074920" cy="6949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1  ·  SOURCE — Kaggle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6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Dataset version and all 52 columns pinned in config; a missing file or an unexpected column fails the run.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29"/>
          <p:cNvSpPr txBox="1"/>
          <p:nvPr/>
        </p:nvSpPr>
        <p:spPr>
          <a:xfrm>
            <a:off x="777240" y="3218688"/>
            <a:ext cx="5074920" cy="6949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2  ·  RAW ZONE — Cloud Storage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6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The exact extracted files stay under a dated prefix, so any prefix replays downstream without re-downloading.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29"/>
          <p:cNvSpPr txBox="1"/>
          <p:nvPr/>
        </p:nvSpPr>
        <p:spPr>
          <a:xfrm>
            <a:off x="777240" y="3950208"/>
            <a:ext cx="5074920" cy="6949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3  ·  LOAD — dlt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6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Schema frozen: a new or retyped column fails the load. Loads replace, so a rerun never duplicates rows.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29"/>
          <p:cNvSpPr txBox="1"/>
          <p:nvPr/>
        </p:nvSpPr>
        <p:spPr>
          <a:xfrm>
            <a:off x="777240" y="4681728"/>
            <a:ext cx="5074920" cy="6949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4  ·  WAREHOUSE — BigQuery + dbt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6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Each cleaning rule lives in the earliest layer with enough context — and only there.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29"/>
          <p:cNvSpPr txBox="1"/>
          <p:nvPr/>
        </p:nvSpPr>
        <p:spPr>
          <a:xfrm>
            <a:off x="777240" y="5413248"/>
            <a:ext cx="5074920" cy="6949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5  ·  CONSUMPTION — notebooks, Streamlit, Power BI, dbt Docs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6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Consumers read marts, never raw or staging.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0" name="Google Shape;170;p29"/>
          <p:cNvSpPr/>
          <p:nvPr/>
        </p:nvSpPr>
        <p:spPr>
          <a:xfrm>
            <a:off x="6400800" y="1847088"/>
            <a:ext cx="5285232" cy="4343400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DE2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29"/>
          <p:cNvSpPr/>
          <p:nvPr/>
        </p:nvSpPr>
        <p:spPr>
          <a:xfrm>
            <a:off x="6400800" y="1847088"/>
            <a:ext cx="5285232" cy="475488"/>
          </a:xfrm>
          <a:prstGeom prst="rect">
            <a:avLst/>
          </a:prstGeom>
          <a:solidFill>
            <a:srgbClr val="14304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p29"/>
          <p:cNvSpPr txBox="1"/>
          <p:nvPr/>
        </p:nvSpPr>
        <p:spPr>
          <a:xfrm>
            <a:off x="6601968" y="1847088"/>
            <a:ext cx="4882896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ORCHESTRATION  ·  TWO SIGNALS, ONE GRAPH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29"/>
          <p:cNvSpPr/>
          <p:nvPr/>
        </p:nvSpPr>
        <p:spPr>
          <a:xfrm>
            <a:off x="6675120" y="2487168"/>
            <a:ext cx="4736592" cy="530352"/>
          </a:xfrm>
          <a:prstGeom prst="rect">
            <a:avLst/>
          </a:prstGeom>
          <a:solidFill>
            <a:srgbClr val="14304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29"/>
          <p:cNvSpPr txBox="1"/>
          <p:nvPr/>
        </p:nvSpPr>
        <p:spPr>
          <a:xfrm>
            <a:off x="6821424" y="2487168"/>
            <a:ext cx="4443984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08:00 SGT  ·  daily_refresh schedule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C6D0DB"/>
                </a:solidFill>
                <a:latin typeface="Calibri"/>
                <a:ea typeface="Calibri"/>
                <a:cs typeface="Calibri"/>
                <a:sym typeface="Calibri"/>
              </a:rPr>
              <a:t>a clock, because Kaggle announces nothing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29"/>
          <p:cNvSpPr/>
          <p:nvPr/>
        </p:nvSpPr>
        <p:spPr>
          <a:xfrm>
            <a:off x="8970264" y="3035808"/>
            <a:ext cx="146304" cy="164592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9AA7B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29"/>
          <p:cNvSpPr/>
          <p:nvPr/>
        </p:nvSpPr>
        <p:spPr>
          <a:xfrm>
            <a:off x="6675120" y="3218688"/>
            <a:ext cx="4736592" cy="530352"/>
          </a:xfrm>
          <a:prstGeom prst="rect">
            <a:avLst/>
          </a:prstGeom>
          <a:solidFill>
            <a:srgbClr val="14304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29"/>
          <p:cNvSpPr txBox="1"/>
          <p:nvPr/>
        </p:nvSpPr>
        <p:spPr>
          <a:xfrm>
            <a:off x="6821424" y="3218688"/>
            <a:ext cx="4443984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Kaggle → GCS → olist_raw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C6D0DB"/>
                </a:solidFill>
                <a:latin typeface="Calibri"/>
                <a:ea typeface="Calibri"/>
                <a:cs typeface="Calibri"/>
                <a:sym typeface="Calibri"/>
              </a:rPr>
              <a:t>the ingestion group only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9"/>
          <p:cNvSpPr/>
          <p:nvPr/>
        </p:nvSpPr>
        <p:spPr>
          <a:xfrm>
            <a:off x="8970264" y="3767328"/>
            <a:ext cx="146304" cy="164592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9AA7B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9"/>
          <p:cNvSpPr/>
          <p:nvPr/>
        </p:nvSpPr>
        <p:spPr>
          <a:xfrm>
            <a:off x="6675120" y="3950208"/>
            <a:ext cx="4736592" cy="530352"/>
          </a:xfrm>
          <a:prstGeom prst="rect">
            <a:avLst/>
          </a:prstGeom>
          <a:solidFill>
            <a:srgbClr val="E079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9"/>
          <p:cNvSpPr txBox="1"/>
          <p:nvPr/>
        </p:nvSpPr>
        <p:spPr>
          <a:xfrm>
            <a:off x="6821424" y="3950208"/>
            <a:ext cx="4443984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automation-condition sensor, every 60s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FBE3D2"/>
                </a:solidFill>
                <a:latin typeface="Calibri"/>
                <a:ea typeface="Calibri"/>
                <a:cs typeface="Calibri"/>
                <a:sym typeface="Calibri"/>
              </a:rPr>
              <a:t>an event: raw materialized successfully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9"/>
          <p:cNvSpPr/>
          <p:nvPr/>
        </p:nvSpPr>
        <p:spPr>
          <a:xfrm>
            <a:off x="8970264" y="4498848"/>
            <a:ext cx="146304" cy="164592"/>
          </a:xfrm>
          <a:prstGeom prst="downArrow">
            <a:avLst>
              <a:gd fmla="val 50000" name="adj1"/>
              <a:gd fmla="val 50000" name="adj2"/>
            </a:avLst>
          </a:prstGeom>
          <a:solidFill>
            <a:srgbClr val="9AA7B4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2" name="Google Shape;182;p29"/>
          <p:cNvSpPr/>
          <p:nvPr/>
        </p:nvSpPr>
        <p:spPr>
          <a:xfrm>
            <a:off x="6675120" y="4681728"/>
            <a:ext cx="4736592" cy="530352"/>
          </a:xfrm>
          <a:prstGeom prst="rect">
            <a:avLst/>
          </a:prstGeom>
          <a:solidFill>
            <a:srgbClr val="14304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3" name="Google Shape;183;p29"/>
          <p:cNvSpPr txBox="1"/>
          <p:nvPr/>
        </p:nvSpPr>
        <p:spPr>
          <a:xfrm>
            <a:off x="6821424" y="4681728"/>
            <a:ext cx="4443984" cy="53035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21 dbt models + their asset checks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C6D0DB"/>
                </a:solidFill>
                <a:latin typeface="Calibri"/>
                <a:ea typeface="Calibri"/>
                <a:cs typeface="Calibri"/>
                <a:sym typeface="Calibri"/>
              </a:rPr>
              <a:t>marts rebuilt, tests run in the same pass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29"/>
          <p:cNvSpPr txBox="1"/>
          <p:nvPr/>
        </p:nvSpPr>
        <p:spPr>
          <a:xfrm>
            <a:off x="6675120" y="5394960"/>
            <a:ext cx="4736592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Why two signals and not one cron. </a:t>
            </a:r>
            <a:r>
              <a:rPr b="0" i="0" lang="en-US" sz="115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Kaggle publishes no event, so ingestion is polled. A successful raw load is an event inside the platform, so transforms react to it — and failed ingestion never rebuilds the marts over stale data.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8FA"/>
        </a:solidFill>
      </p:bgPr>
    </p:bg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30"/>
          <p:cNvSpPr txBox="1"/>
          <p:nvPr/>
        </p:nvSpPr>
        <p:spPr>
          <a:xfrm>
            <a:off x="502920" y="292608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TECHNICAL FOUNDATION  ·  3 OF 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0"/>
          <p:cNvSpPr txBox="1"/>
          <p:nvPr/>
        </p:nvSpPr>
        <p:spPr>
          <a:xfrm>
            <a:off x="484632" y="548640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Why These Tools — and What We Turned Down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0"/>
          <p:cNvSpPr/>
          <p:nvPr/>
        </p:nvSpPr>
        <p:spPr>
          <a:xfrm>
            <a:off x="502920" y="1207008"/>
            <a:ext cx="960120" cy="54864"/>
          </a:xfrm>
          <a:prstGeom prst="rect">
            <a:avLst/>
          </a:prstGeom>
          <a:solidFill>
            <a:srgbClr val="E079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0"/>
          <p:cNvSpPr txBox="1"/>
          <p:nvPr/>
        </p:nvSpPr>
        <p:spPr>
          <a:xfrm>
            <a:off x="502920" y="6519672"/>
            <a:ext cx="8686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Olist marketplace analysis  ·  olist_marts (BigQuery)  ·  99,441 orders, Sep 2016 – Oct 2018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3" name="Google Shape;193;p30"/>
          <p:cNvSpPr txBox="1"/>
          <p:nvPr/>
        </p:nvSpPr>
        <p:spPr>
          <a:xfrm>
            <a:off x="11475720" y="6519672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30"/>
          <p:cNvSpPr txBox="1"/>
          <p:nvPr/>
        </p:nvSpPr>
        <p:spPr>
          <a:xfrm>
            <a:off x="502920" y="1389888"/>
            <a:ext cx="11155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Five decisions carry the platform. Each was made against a named alternative: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195" name="Google Shape;195;p30"/>
          <p:cNvGraphicFramePr/>
          <p:nvPr/>
        </p:nvGraphicFramePr>
        <p:xfrm>
          <a:off x="502920" y="1810512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{FEABAEE2-BCA0-415B-86C0-DFA73D7E2789}</a:tableStyleId>
              </a:tblPr>
              <a:tblGrid>
                <a:gridCol w="1600200"/>
                <a:gridCol w="1874525"/>
                <a:gridCol w="3977650"/>
                <a:gridCol w="3730750"/>
              </a:tblGrid>
              <a:tr h="4206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b="1" lang="en-US" sz="16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Concern</a:t>
                      </a:r>
                      <a:endParaRPr sz="1400" u="none" cap="none" strike="noStrike"/>
                    </a:p>
                  </a:txBody>
                  <a:tcPr marT="54875" marB="54875" marR="128025" marL="128025" anchor="ctr">
                    <a:solidFill>
                      <a:srgbClr val="14304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b="1" lang="en-US" sz="16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Our choice</a:t>
                      </a:r>
                      <a:endParaRPr sz="1400" u="none" cap="none" strike="noStrike"/>
                    </a:p>
                  </a:txBody>
                  <a:tcPr marT="54875" marB="54875" marR="128025" marL="128025" anchor="ctr">
                    <a:solidFill>
                      <a:srgbClr val="14304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b="1" lang="en-US" sz="16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Why it wins here</a:t>
                      </a:r>
                      <a:endParaRPr sz="1400" u="none" cap="none" strike="noStrike"/>
                    </a:p>
                  </a:txBody>
                  <a:tcPr marT="54875" marB="54875" marR="128025" marL="128025" anchor="ctr">
                    <a:solidFill>
                      <a:srgbClr val="14304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b="1" lang="en-US" sz="16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What we turned down</a:t>
                      </a:r>
                      <a:endParaRPr sz="1400" u="none" cap="none" strike="noStrike"/>
                    </a:p>
                  </a:txBody>
                  <a:tcPr marT="54875" marB="54875" marR="128025" marL="128025" anchor="ctr">
                    <a:solidFill>
                      <a:srgbClr val="14304D"/>
                    </a:solidFill>
                  </a:tcPr>
                </a:tc>
              </a:tr>
              <a:tr h="7681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4304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Warehouse</a:t>
                      </a:r>
                      <a:endParaRPr sz="1400" u="none" cap="none" strike="noStrike"/>
                    </a:p>
                  </a:txBody>
                  <a:tcPr marT="54875" marB="54875" marR="128025" marL="1280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E079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BigQuery</a:t>
                      </a:r>
                      <a:endParaRPr sz="1400" u="none" cap="none" strike="noStrike"/>
                    </a:p>
                  </a:txBody>
                  <a:tcPr marT="54875" marB="54875" marR="128025" marL="1280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Managed columnar storage with elastic compute, and transformation logic that runs next to the data it reads</a:t>
                      </a:r>
                      <a:endParaRPr sz="1400" u="none" cap="none" strike="noStrike"/>
                    </a:p>
                  </a:txBody>
                  <a:tcPr marT="54875" marB="54875" marR="128025" marL="1280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Postgres is tuned for transactions; DuckDB is excellent locally but would not exercise a cloud architecture</a:t>
                      </a:r>
                      <a:endParaRPr sz="1400" u="none" cap="none" strike="noStrike"/>
                    </a:p>
                  </a:txBody>
                  <a:tcPr marT="54875" marB="54875" marR="128025" marL="128025" anchor="ctr">
                    <a:solidFill>
                      <a:srgbClr val="FFFFFF"/>
                    </a:solidFill>
                  </a:tcPr>
                </a:tc>
              </a:tr>
              <a:tr h="7681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4304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Ingestion</a:t>
                      </a:r>
                      <a:endParaRPr sz="1400" u="none" cap="none" strike="noStrike"/>
                    </a:p>
                  </a:txBody>
                  <a:tcPr marT="54875" marB="54875" marR="128025" marL="128025"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E079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dlt</a:t>
                      </a:r>
                      <a:endParaRPr sz="1400" u="none" cap="none" strike="noStrike"/>
                    </a:p>
                  </a:txBody>
                  <a:tcPr marT="54875" marB="54875" marR="128025" marL="128025"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Declared column types, a schema contract that freezes drift, replace loads, and per-table lineage in Dagster</a:t>
                      </a:r>
                      <a:endParaRPr sz="1400" u="none" cap="none" strike="noStrike"/>
                    </a:p>
                  </a:txBody>
                  <a:tcPr marT="54875" marB="54875" marR="128025" marL="128025"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Hand-written loaders mean owning retry, schema and lineage code; Meltano adds a Singer layer without removing the Kaggle step</a:t>
                      </a:r>
                      <a:endParaRPr sz="1400" u="none" cap="none" strike="noStrike"/>
                    </a:p>
                  </a:txBody>
                  <a:tcPr marT="54875" marB="54875" marR="128025" marL="128025" anchor="ctr">
                    <a:solidFill>
                      <a:srgbClr val="EEF1F5"/>
                    </a:solidFill>
                  </a:tcPr>
                </a:tc>
              </a:tr>
              <a:tr h="7681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4304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Transformation</a:t>
                      </a:r>
                      <a:endParaRPr sz="1400" u="none" cap="none" strike="noStrike"/>
                    </a:p>
                  </a:txBody>
                  <a:tcPr marT="54875" marB="54875" marR="128025" marL="1280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E079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dbt Core</a:t>
                      </a:r>
                      <a:endParaRPr sz="1400" u="none" cap="none" strike="noStrike"/>
                    </a:p>
                  </a:txBody>
                  <a:tcPr marT="54875" marB="54875" marR="128025" marL="1280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Dependency graph, tests and documentation in one tool — and every model appears individually in the asset graph</a:t>
                      </a:r>
                      <a:endParaRPr sz="1400" u="none" cap="none" strike="noStrike"/>
                    </a:p>
                  </a:txBody>
                  <a:tcPr marT="54875" marB="54875" marR="128025" marL="1280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Raw SQL carries no dependency or test metadata; dbt Cloud would add a second scheduler and hide model-level lineage</a:t>
                      </a:r>
                      <a:endParaRPr sz="1400" u="none" cap="none" strike="noStrike"/>
                    </a:p>
                  </a:txBody>
                  <a:tcPr marT="54875" marB="54875" marR="128025" marL="128025" anchor="ctr">
                    <a:solidFill>
                      <a:srgbClr val="FFFFFF"/>
                    </a:solidFill>
                  </a:tcPr>
                </a:tc>
              </a:tr>
              <a:tr h="7681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4304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Orchestration</a:t>
                      </a:r>
                      <a:endParaRPr sz="1400" u="none" cap="none" strike="noStrike"/>
                    </a:p>
                  </a:txBody>
                  <a:tcPr marT="54875" marB="54875" marR="128025" marL="128025"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E079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Dagster</a:t>
                      </a:r>
                      <a:endParaRPr sz="1400" u="none" cap="none" strike="noStrike"/>
                    </a:p>
                  </a:txBody>
                  <a:tcPr marT="54875" marB="54875" marR="128025" marL="128025"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The pipeline is naturally an asset graph, not a task list, and it integrates directly with both dlt and dbt</a:t>
                      </a:r>
                      <a:endParaRPr sz="1400" u="none" cap="none" strike="noStrike"/>
                    </a:p>
                  </a:txBody>
                  <a:tcPr marT="54875" marB="54875" marR="128025" marL="128025" anchor="ctr">
                    <a:solidFill>
                      <a:srgbClr val="EEF1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Airflow would restate dbt's dependencies by hand; cron gives no lineage and no conditional downstream execution</a:t>
                      </a:r>
                      <a:endParaRPr sz="1400" u="none" cap="none" strike="noStrike"/>
                    </a:p>
                  </a:txBody>
                  <a:tcPr marT="54875" marB="54875" marR="128025" marL="128025" anchor="ctr">
                    <a:solidFill>
                      <a:srgbClr val="EEF1F5"/>
                    </a:solidFill>
                  </a:tcPr>
                </a:tc>
              </a:tr>
              <a:tr h="7681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4304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Quality</a:t>
                      </a:r>
                      <a:endParaRPr sz="1400" u="none" cap="none" strike="noStrike"/>
                    </a:p>
                  </a:txBody>
                  <a:tcPr marT="54875" marB="54875" marR="128025" marL="1280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E079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dbt tests + utils</a:t>
                      </a:r>
                      <a:br>
                        <a:rPr b="1" lang="en-US" sz="1200" u="none" cap="none" strike="noStrike">
                          <a:solidFill>
                            <a:srgbClr val="E079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</a:br>
                      <a:r>
                        <a:rPr b="1" lang="en-US" sz="1200" u="none" cap="none" strike="noStrike">
                          <a:solidFill>
                            <a:srgbClr val="E0793A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+ expectations</a:t>
                      </a:r>
                      <a:endParaRPr sz="1400" u="none" cap="none" strike="noStrike"/>
                    </a:p>
                  </a:txBody>
                  <a:tcPr marT="54875" marB="54875" marR="128025" marL="1280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79 structural and business checks run in the same build command and surface as asset checks</a:t>
                      </a:r>
                      <a:endParaRPr sz="1400" u="none" cap="none" strike="noStrike"/>
                    </a:p>
                  </a:txBody>
                  <a:tcPr marT="54875" marB="54875" marR="128025" marL="1280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 separate assertion service would split ownership and reporting away from the models being tested</a:t>
                      </a:r>
                      <a:endParaRPr sz="1400" u="none" cap="none" strike="noStrike"/>
                    </a:p>
                  </a:txBody>
                  <a:tcPr marT="54875" marB="54875" marR="128025" marL="1280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8FA"/>
        </a:solidFill>
      </p:bgPr>
    </p:bg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31"/>
          <p:cNvSpPr txBox="1"/>
          <p:nvPr/>
        </p:nvSpPr>
        <p:spPr>
          <a:xfrm>
            <a:off x="502920" y="292608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TECHNICAL FOUNDATION  ·  4 OF 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31"/>
          <p:cNvSpPr txBox="1"/>
          <p:nvPr/>
        </p:nvSpPr>
        <p:spPr>
          <a:xfrm>
            <a:off x="484632" y="548640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Warehouse Design: A Star That Cannot Double-Count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p31"/>
          <p:cNvSpPr/>
          <p:nvPr/>
        </p:nvSpPr>
        <p:spPr>
          <a:xfrm>
            <a:off x="502920" y="1207008"/>
            <a:ext cx="960120" cy="54864"/>
          </a:xfrm>
          <a:prstGeom prst="rect">
            <a:avLst/>
          </a:prstGeom>
          <a:solidFill>
            <a:srgbClr val="E079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p31"/>
          <p:cNvSpPr txBox="1"/>
          <p:nvPr/>
        </p:nvSpPr>
        <p:spPr>
          <a:xfrm>
            <a:off x="502920" y="6519672"/>
            <a:ext cx="8686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Olist marketplace analysis  ·  olist_marts (BigQuery)  ·  99,441 orders, Sep 2016 – Oct 2018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4" name="Google Shape;204;p31"/>
          <p:cNvSpPr txBox="1"/>
          <p:nvPr/>
        </p:nvSpPr>
        <p:spPr>
          <a:xfrm>
            <a:off x="11475720" y="6519672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9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31"/>
          <p:cNvSpPr txBox="1"/>
          <p:nvPr/>
        </p:nvSpPr>
        <p:spPr>
          <a:xfrm>
            <a:off x="7813285" y="1809969"/>
            <a:ext cx="4690800" cy="16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WHY THIS SHAPE, AND NOT ONE WIDE TABLE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31"/>
          <p:cNvSpPr txBox="1"/>
          <p:nvPr/>
        </p:nvSpPr>
        <p:spPr>
          <a:xfrm>
            <a:off x="7813276" y="2231125"/>
            <a:ext cx="3872700" cy="4175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›  </a:t>
            </a:r>
            <a:r>
              <a:rPr b="1" i="0" lang="en-US" sz="125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One order has many items and many payments. </a:t>
            </a:r>
            <a:r>
              <a:rPr b="0" i="0" lang="en-US" sz="125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Flatten both into a single fact and every payment repeats on every line — revenue inflates silently, and nothing errors.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›  </a:t>
            </a:r>
            <a:r>
              <a:rPr b="1" i="0" lang="en-US" sz="125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fct_orders is the hub. </a:t>
            </a:r>
            <a:r>
              <a:rPr b="0" i="0" lang="en-US" sz="125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Delivery lateness, review linkage and reconciled payment-vs-item totals all sit at order grain, so the headline revenue measure is safe to sum.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›  </a:t>
            </a:r>
            <a:r>
              <a:rPr b="1" i="0" lang="en-US" sz="125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dim_customer is keyed on customer_unique_id. </a:t>
            </a:r>
            <a:r>
              <a:rPr b="0" i="0" lang="en-US" sz="125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The raw customer_id is a per-order surrogate; keying on it would make every repeat customer look like a new person.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›  </a:t>
            </a:r>
            <a:r>
              <a:rPr b="1" i="0" lang="en-US" sz="125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Measures are additive only where the grain allows it. </a:t>
            </a:r>
            <a:r>
              <a:rPr b="0" i="0" lang="en-US" sz="125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Payments sum across payment rows, price and freight across item rows; review scores are analysed, never summed.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›  </a:t>
            </a:r>
            <a:r>
              <a:rPr b="1" i="0" lang="en-US" sz="125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Physical layout is declared for scale. </a:t>
            </a:r>
            <a:r>
              <a:rPr b="0" i="0" lang="en-US" sz="125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Facts partition on their date and cluster on the keys they are filtered by — design intent today, measurable speedup at volume.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7" name="Google Shape;207;p3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414272"/>
            <a:ext cx="7508483" cy="375424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8FA"/>
        </a:solidFill>
      </p:bgPr>
    </p:bg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32"/>
          <p:cNvSpPr txBox="1"/>
          <p:nvPr/>
        </p:nvSpPr>
        <p:spPr>
          <a:xfrm>
            <a:off x="502920" y="292608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TECHNICAL FOUNDATION  ·  5 OF 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32"/>
          <p:cNvSpPr txBox="1"/>
          <p:nvPr/>
        </p:nvSpPr>
        <p:spPr>
          <a:xfrm>
            <a:off x="484632" y="548640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How the Numbers Stay Correct Without Anyone Watching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2"/>
          <p:cNvSpPr/>
          <p:nvPr/>
        </p:nvSpPr>
        <p:spPr>
          <a:xfrm>
            <a:off x="502920" y="1207008"/>
            <a:ext cx="960120" cy="54864"/>
          </a:xfrm>
          <a:prstGeom prst="rect">
            <a:avLst/>
          </a:prstGeom>
          <a:solidFill>
            <a:srgbClr val="E079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32"/>
          <p:cNvSpPr txBox="1"/>
          <p:nvPr/>
        </p:nvSpPr>
        <p:spPr>
          <a:xfrm>
            <a:off x="502920" y="6519672"/>
            <a:ext cx="8686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Olist marketplace analysis  ·  olist_marts (BigQuery)  ·  99,441 orders, Sep 2016 – Oct 2018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6" name="Google Shape;216;p32"/>
          <p:cNvSpPr txBox="1"/>
          <p:nvPr/>
        </p:nvSpPr>
        <p:spPr>
          <a:xfrm>
            <a:off x="11475720" y="6519672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p32"/>
          <p:cNvSpPr txBox="1"/>
          <p:nvPr/>
        </p:nvSpPr>
        <p:spPr>
          <a:xfrm>
            <a:off x="502920" y="1389888"/>
            <a:ext cx="11155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79 tests run inside every build — not as a separate job someone has to remember to start.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p32"/>
          <p:cNvSpPr/>
          <p:nvPr/>
        </p:nvSpPr>
        <p:spPr>
          <a:xfrm>
            <a:off x="502920" y="1847088"/>
            <a:ext cx="5440680" cy="418795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DE2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9" name="Google Shape;219;p32"/>
          <p:cNvSpPr/>
          <p:nvPr/>
        </p:nvSpPr>
        <p:spPr>
          <a:xfrm>
            <a:off x="502920" y="1847088"/>
            <a:ext cx="5440680" cy="475488"/>
          </a:xfrm>
          <a:prstGeom prst="rect">
            <a:avLst/>
          </a:prstGeom>
          <a:solidFill>
            <a:srgbClr val="14304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32"/>
          <p:cNvSpPr txBox="1"/>
          <p:nvPr/>
        </p:nvSpPr>
        <p:spPr>
          <a:xfrm>
            <a:off x="704088" y="1847088"/>
            <a:ext cx="5038344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THE 79 CHECKS, BY FAMILY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32"/>
          <p:cNvSpPr txBox="1"/>
          <p:nvPr/>
        </p:nvSpPr>
        <p:spPr>
          <a:xfrm>
            <a:off x="777240" y="2468880"/>
            <a:ext cx="48920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unique, not_null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declared grains and required join keys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" name="Google Shape;222;p32"/>
          <p:cNvSpPr txBox="1"/>
          <p:nvPr/>
        </p:nvSpPr>
        <p:spPr>
          <a:xfrm>
            <a:off x="777240" y="2999232"/>
            <a:ext cx="48920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relationships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order, customer, product, seller, payment and review links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32"/>
          <p:cNvSpPr txBox="1"/>
          <p:nvPr/>
        </p:nvSpPr>
        <p:spPr>
          <a:xfrm>
            <a:off x="777240" y="3529584"/>
            <a:ext cx="48920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accepted_values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order status and payment type domains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p32"/>
          <p:cNvSpPr txBox="1"/>
          <p:nvPr/>
        </p:nvSpPr>
        <p:spPr>
          <a:xfrm>
            <a:off x="777240" y="4059936"/>
            <a:ext cx="48920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dbt_utils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composite keys, non-negative amounts, customer grain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32"/>
          <p:cNvSpPr txBox="1"/>
          <p:nvPr/>
        </p:nvSpPr>
        <p:spPr>
          <a:xfrm>
            <a:off x="777240" y="4590288"/>
            <a:ext cx="4892040" cy="4754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dbt_expectations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row-count bands, date ranges, timestamp ordering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32"/>
          <p:cNvSpPr txBox="1"/>
          <p:nvPr/>
        </p:nvSpPr>
        <p:spPr>
          <a:xfrm>
            <a:off x="777240" y="5230368"/>
            <a:ext cx="489204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1" i="0" lang="en-US" sz="115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Declared beside the models they guard </a:t>
            </a:r>
            <a:r>
              <a:rPr b="0" i="0" lang="en-US" sz="115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in _sources.yml and each layer's schema.yml — so a new model without tests is visible in review, not discovered in production.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32"/>
          <p:cNvSpPr/>
          <p:nvPr/>
        </p:nvSpPr>
        <p:spPr>
          <a:xfrm>
            <a:off x="6245352" y="1847088"/>
            <a:ext cx="5440680" cy="4187952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DE2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32"/>
          <p:cNvSpPr/>
          <p:nvPr/>
        </p:nvSpPr>
        <p:spPr>
          <a:xfrm>
            <a:off x="6245352" y="1847088"/>
            <a:ext cx="5440680" cy="475488"/>
          </a:xfrm>
          <a:prstGeom prst="rect">
            <a:avLst/>
          </a:prstGeom>
          <a:solidFill>
            <a:srgbClr val="14304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9" name="Google Shape;229;p32"/>
          <p:cNvSpPr txBox="1"/>
          <p:nvPr/>
        </p:nvSpPr>
        <p:spPr>
          <a:xfrm>
            <a:off x="6446520" y="1847088"/>
            <a:ext cx="5038344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WHAT HAPPENS WHEN ONE FAILS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32"/>
          <p:cNvSpPr txBox="1"/>
          <p:nvPr/>
        </p:nvSpPr>
        <p:spPr>
          <a:xfrm>
            <a:off x="6519672" y="2468880"/>
            <a:ext cx="4892040" cy="8595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Most failures block the build.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6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A missing key, a broken relationship, a duplicated grain or an out-of-domain value stops the run before anything downstream rebuilds on it.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32"/>
          <p:cNvSpPr txBox="1"/>
          <p:nvPr/>
        </p:nvSpPr>
        <p:spPr>
          <a:xfrm>
            <a:off x="6519672" y="3383280"/>
            <a:ext cx="4892040" cy="8595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Two lifecycle checks warn instead.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6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The source holds plausible historical anomalies. They stay visible in the run without blocking models that have nothing to do with them.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32"/>
          <p:cNvSpPr txBox="1"/>
          <p:nvPr/>
        </p:nvSpPr>
        <p:spPr>
          <a:xfrm>
            <a:off x="6519672" y="4297680"/>
            <a:ext cx="4892040" cy="8595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Nothing is ever repaired silently.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6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Tests verify data; they do not mutate it. A bad row is surfaced and left in place, so the fix happens in a model that everyone can review.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3" name="Google Shape;233;p32"/>
          <p:cNvSpPr txBox="1"/>
          <p:nvPr/>
        </p:nvSpPr>
        <p:spPr>
          <a:xfrm>
            <a:off x="6519672" y="5212080"/>
            <a:ext cx="4892040" cy="85953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Results land on the assets themselves.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6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Dagster maps each test onto the asset it guards, so a failure names the model at fault rather than a generic failed job.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8FA"/>
        </a:solidFill>
      </p:bgPr>
    </p:bg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33"/>
          <p:cNvSpPr txBox="1"/>
          <p:nvPr/>
        </p:nvSpPr>
        <p:spPr>
          <a:xfrm>
            <a:off x="502920" y="292608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TECHNICAL FOUNDATION  ·  6 OF 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9" name="Google Shape;239;p33"/>
          <p:cNvSpPr txBox="1"/>
          <p:nvPr/>
        </p:nvSpPr>
        <p:spPr>
          <a:xfrm>
            <a:off x="484632" y="548640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Risks — and How Each One Is Contained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33"/>
          <p:cNvSpPr/>
          <p:nvPr/>
        </p:nvSpPr>
        <p:spPr>
          <a:xfrm>
            <a:off x="502920" y="1207008"/>
            <a:ext cx="960120" cy="54864"/>
          </a:xfrm>
          <a:prstGeom prst="rect">
            <a:avLst/>
          </a:prstGeom>
          <a:solidFill>
            <a:srgbClr val="E079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33"/>
          <p:cNvSpPr txBox="1"/>
          <p:nvPr/>
        </p:nvSpPr>
        <p:spPr>
          <a:xfrm>
            <a:off x="502920" y="6519672"/>
            <a:ext cx="8686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Olist marketplace analysis  ·  olist_marts (BigQuery)  ·  99,441 orders, Sep 2016 – Oct 2018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33"/>
          <p:cNvSpPr txBox="1"/>
          <p:nvPr/>
        </p:nvSpPr>
        <p:spPr>
          <a:xfrm>
            <a:off x="11475720" y="6519672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33"/>
          <p:cNvSpPr txBox="1"/>
          <p:nvPr/>
        </p:nvSpPr>
        <p:spPr>
          <a:xfrm>
            <a:off x="502920" y="1389888"/>
            <a:ext cx="11155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Six things could go wrong. Five are already contained by design; one is an open gap we are naming rather than hiding.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4" name="Google Shape;244;p33"/>
          <p:cNvSpPr/>
          <p:nvPr/>
        </p:nvSpPr>
        <p:spPr>
          <a:xfrm>
            <a:off x="502920" y="1755648"/>
            <a:ext cx="3566160" cy="2139696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DE2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5" name="Google Shape;245;p33"/>
          <p:cNvSpPr/>
          <p:nvPr/>
        </p:nvSpPr>
        <p:spPr>
          <a:xfrm>
            <a:off x="502920" y="1755648"/>
            <a:ext cx="3566160" cy="457200"/>
          </a:xfrm>
          <a:prstGeom prst="rect">
            <a:avLst/>
          </a:prstGeom>
          <a:solidFill>
            <a:srgbClr val="14304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33"/>
          <p:cNvSpPr txBox="1"/>
          <p:nvPr/>
        </p:nvSpPr>
        <p:spPr>
          <a:xfrm>
            <a:off x="685800" y="1755648"/>
            <a:ext cx="3200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Source schema drift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" name="Google Shape;247;p33"/>
          <p:cNvSpPr txBox="1"/>
          <p:nvPr/>
        </p:nvSpPr>
        <p:spPr>
          <a:xfrm>
            <a:off x="685800" y="2340864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Kaggle republishes the dataset with a new, renamed or retyped column.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CONTAINED BY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8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The dlt contract freezes the schema, so the load fails loudly instead of quietly changing the marts. The last good dated prefix still replays.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8" name="Google Shape;248;p33"/>
          <p:cNvSpPr/>
          <p:nvPr/>
        </p:nvSpPr>
        <p:spPr>
          <a:xfrm>
            <a:off x="4311396" y="1755648"/>
            <a:ext cx="3566160" cy="2139696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DE2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33"/>
          <p:cNvSpPr/>
          <p:nvPr/>
        </p:nvSpPr>
        <p:spPr>
          <a:xfrm>
            <a:off x="4311396" y="1755648"/>
            <a:ext cx="3566160" cy="457200"/>
          </a:xfrm>
          <a:prstGeom prst="rect">
            <a:avLst/>
          </a:prstGeom>
          <a:solidFill>
            <a:srgbClr val="14304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p33"/>
          <p:cNvSpPr txBox="1"/>
          <p:nvPr/>
        </p:nvSpPr>
        <p:spPr>
          <a:xfrm>
            <a:off x="4494276" y="1755648"/>
            <a:ext cx="3200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Single-VM deployment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33"/>
          <p:cNvSpPr txBox="1"/>
          <p:nvPr/>
        </p:nvSpPr>
        <p:spPr>
          <a:xfrm>
            <a:off x="4494276" y="2340864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One e2-micro runs the webserver and daemon, with SQLite run history.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CONTAINED BY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8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History is bind-mounted and survives restarts; images are SHA-pinned and redeployable. Residual: history is durable but not replicated.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33"/>
          <p:cNvSpPr/>
          <p:nvPr/>
        </p:nvSpPr>
        <p:spPr>
          <a:xfrm>
            <a:off x="8119872" y="1755648"/>
            <a:ext cx="3566160" cy="2139696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DE2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p33"/>
          <p:cNvSpPr/>
          <p:nvPr/>
        </p:nvSpPr>
        <p:spPr>
          <a:xfrm>
            <a:off x="8119872" y="1755648"/>
            <a:ext cx="3566160" cy="457200"/>
          </a:xfrm>
          <a:prstGeom prst="rect">
            <a:avLst/>
          </a:prstGeom>
          <a:solidFill>
            <a:srgbClr val="14304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33"/>
          <p:cNvSpPr txBox="1"/>
          <p:nvPr/>
        </p:nvSpPr>
        <p:spPr>
          <a:xfrm>
            <a:off x="8302752" y="1755648"/>
            <a:ext cx="3200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Misreading the incomplete tail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33"/>
          <p:cNvSpPr txBox="1"/>
          <p:nvPr/>
        </p:nvSpPr>
        <p:spPr>
          <a:xfrm>
            <a:off x="8302752" y="2340864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The extract stops during 2018, so the final month looks like a collapse.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CONTAINED BY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8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dim_date.is_complete_month marks it, and every trend in this deck filters on it rather than relying on the reader to remember.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p33"/>
          <p:cNvSpPr/>
          <p:nvPr/>
        </p:nvSpPr>
        <p:spPr>
          <a:xfrm>
            <a:off x="502920" y="4114800"/>
            <a:ext cx="3566160" cy="2139696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DE2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7" name="Google Shape;257;p33"/>
          <p:cNvSpPr/>
          <p:nvPr/>
        </p:nvSpPr>
        <p:spPr>
          <a:xfrm>
            <a:off x="502920" y="4114800"/>
            <a:ext cx="3566160" cy="457200"/>
          </a:xfrm>
          <a:prstGeom prst="rect">
            <a:avLst/>
          </a:prstGeom>
          <a:solidFill>
            <a:srgbClr val="14304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33"/>
          <p:cNvSpPr txBox="1"/>
          <p:nvPr/>
        </p:nvSpPr>
        <p:spPr>
          <a:xfrm>
            <a:off x="685800" y="4114800"/>
            <a:ext cx="3200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Using the wrong customer key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33"/>
          <p:cNvSpPr txBox="1"/>
          <p:nvPr/>
        </p:nvSpPr>
        <p:spPr>
          <a:xfrm>
            <a:off x="685800" y="4700016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customer_id is a per-order surrogate; keying on it hides every repeat buyer.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CONTAINED BY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8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dim_customer is keyed on customer_unique_id, and a test asserts it has fewer rows than fct_orders — the mistake fails the build.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0" name="Google Shape;260;p33"/>
          <p:cNvSpPr/>
          <p:nvPr/>
        </p:nvSpPr>
        <p:spPr>
          <a:xfrm>
            <a:off x="4311396" y="4114800"/>
            <a:ext cx="3566160" cy="2139696"/>
          </a:xfrm>
          <a:prstGeom prst="rect">
            <a:avLst/>
          </a:prstGeom>
          <a:solidFill>
            <a:srgbClr val="FFFFFF"/>
          </a:solidFill>
          <a:ln cap="flat" cmpd="sng" w="15875">
            <a:solidFill>
              <a:srgbClr val="E079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1" name="Google Shape;261;p33"/>
          <p:cNvSpPr/>
          <p:nvPr/>
        </p:nvSpPr>
        <p:spPr>
          <a:xfrm>
            <a:off x="4311396" y="4114800"/>
            <a:ext cx="3566160" cy="457200"/>
          </a:xfrm>
          <a:prstGeom prst="rect">
            <a:avLst/>
          </a:prstGeom>
          <a:solidFill>
            <a:srgbClr val="E079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33"/>
          <p:cNvSpPr txBox="1"/>
          <p:nvPr/>
        </p:nvSpPr>
        <p:spPr>
          <a:xfrm>
            <a:off x="4494276" y="4114800"/>
            <a:ext cx="3200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Payment reconciliation not enforced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3" name="Google Shape;263;p33"/>
          <p:cNvSpPr txBox="1"/>
          <p:nvPr/>
        </p:nvSpPr>
        <p:spPr>
          <a:xfrm>
            <a:off x="4494276" y="4700016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Reconciliation flags exist in the marts, but no test blocks on a tolerance.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OPEN GAP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8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Documented as an open gap rather than a silent one. Next: a blocking test at a tolerance finance agrees.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33"/>
          <p:cNvSpPr/>
          <p:nvPr/>
        </p:nvSpPr>
        <p:spPr>
          <a:xfrm>
            <a:off x="8119872" y="4114800"/>
            <a:ext cx="3566160" cy="2139696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DE2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33"/>
          <p:cNvSpPr/>
          <p:nvPr/>
        </p:nvSpPr>
        <p:spPr>
          <a:xfrm>
            <a:off x="8119872" y="4114800"/>
            <a:ext cx="3566160" cy="457200"/>
          </a:xfrm>
          <a:prstGeom prst="rect">
            <a:avLst/>
          </a:prstGeom>
          <a:solidFill>
            <a:srgbClr val="14304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33"/>
          <p:cNvSpPr txBox="1"/>
          <p:nvPr/>
        </p:nvSpPr>
        <p:spPr>
          <a:xfrm>
            <a:off x="8302752" y="4114800"/>
            <a:ext cx="3200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Warehouse cost drift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" name="Google Shape;267;p33"/>
          <p:cNvSpPr txBox="1"/>
          <p:nvPr/>
        </p:nvSpPr>
        <p:spPr>
          <a:xfrm>
            <a:off x="8302752" y="4700016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Unbounded scans on facts as history and query volume grow.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1" i="0" lang="en-US" sz="9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CONTAINED BY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8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Aggregation happens inside BigQuery and only small results are pulled back; facts are partitioned by date and clustered on their join keys.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8FA"/>
        </a:solid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4"/>
          <p:cNvSpPr txBox="1"/>
          <p:nvPr/>
        </p:nvSpPr>
        <p:spPr>
          <a:xfrm>
            <a:off x="502920" y="292608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TECHNICAL FOUNDATION  ·  7 OF 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34"/>
          <p:cNvSpPr txBox="1"/>
          <p:nvPr/>
        </p:nvSpPr>
        <p:spPr>
          <a:xfrm>
            <a:off x="484632" y="548640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What Holds at 100× Volume — and What We Would Change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34"/>
          <p:cNvSpPr/>
          <p:nvPr/>
        </p:nvSpPr>
        <p:spPr>
          <a:xfrm>
            <a:off x="502920" y="1207008"/>
            <a:ext cx="960120" cy="54864"/>
          </a:xfrm>
          <a:prstGeom prst="rect">
            <a:avLst/>
          </a:prstGeom>
          <a:solidFill>
            <a:srgbClr val="E079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34"/>
          <p:cNvSpPr txBox="1"/>
          <p:nvPr/>
        </p:nvSpPr>
        <p:spPr>
          <a:xfrm>
            <a:off x="502920" y="6519672"/>
            <a:ext cx="8686800" cy="1645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Olist marketplace analysis  ·  olist_marts (BigQuery)  ·  99,441 orders, Sep 2016 – Oct 2018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34"/>
          <p:cNvSpPr txBox="1"/>
          <p:nvPr/>
        </p:nvSpPr>
        <p:spPr>
          <a:xfrm>
            <a:off x="11475720" y="6519672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12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34"/>
          <p:cNvSpPr txBox="1"/>
          <p:nvPr/>
        </p:nvSpPr>
        <p:spPr>
          <a:xfrm>
            <a:off x="502920" y="1389888"/>
            <a:ext cx="111556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Scalability is a claim worth being specific about. Here is what survives growth untouched, and what we would rebuild.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34"/>
          <p:cNvSpPr/>
          <p:nvPr/>
        </p:nvSpPr>
        <p:spPr>
          <a:xfrm>
            <a:off x="502920" y="1847088"/>
            <a:ext cx="5440680" cy="358444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DE2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34"/>
          <p:cNvSpPr/>
          <p:nvPr/>
        </p:nvSpPr>
        <p:spPr>
          <a:xfrm>
            <a:off x="502920" y="1847088"/>
            <a:ext cx="5440680" cy="475488"/>
          </a:xfrm>
          <a:prstGeom prst="rect">
            <a:avLst/>
          </a:prstGeom>
          <a:solidFill>
            <a:srgbClr val="14304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" name="Google Shape;280;p34"/>
          <p:cNvSpPr txBox="1"/>
          <p:nvPr/>
        </p:nvSpPr>
        <p:spPr>
          <a:xfrm>
            <a:off x="704088" y="1847088"/>
            <a:ext cx="5038344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HOLDS AS-IS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1" name="Google Shape;281;p34"/>
          <p:cNvSpPr txBox="1"/>
          <p:nvPr/>
        </p:nvSpPr>
        <p:spPr>
          <a:xfrm>
            <a:off x="777240" y="2514600"/>
            <a:ext cx="4892040" cy="3017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›  </a:t>
            </a:r>
            <a:r>
              <a:rPr b="1" i="0" lang="en-US" sz="12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ELT with a durable raw zone. </a:t>
            </a:r>
            <a:r>
              <a:rPr b="0" i="0" lang="en-US" sz="120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A transformation defect is fixed in SQL and rebuilt — no re-extraction.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›  </a:t>
            </a:r>
            <a:r>
              <a:rPr b="1" i="0" lang="en-US" sz="12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The star-schema grains. </a:t>
            </a:r>
            <a:r>
              <a:rPr b="0" i="0" lang="en-US" sz="120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Items and payments stay separate facts at any volume; that is what keeps revenue additive.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›  </a:t>
            </a:r>
            <a:r>
              <a:rPr b="1" i="0" lang="en-US" sz="12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Tests as asset checks. </a:t>
            </a:r>
            <a:r>
              <a:rPr b="0" i="0" lang="en-US" sz="120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79 checks already run inside the build, not as a second system to maintain.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›  </a:t>
            </a:r>
            <a:r>
              <a:rPr b="1" i="0" lang="en-US" sz="12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The asset graph. </a:t>
            </a:r>
            <a:r>
              <a:rPr b="0" i="0" lang="en-US" sz="120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New models join the lineage without rewiring the orchestrator.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›  </a:t>
            </a:r>
            <a:r>
              <a:rPr b="1" i="0" lang="en-US" sz="12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Partitioning and clustering. </a:t>
            </a:r>
            <a:r>
              <a:rPr b="0" i="0" lang="en-US" sz="120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Already declared on the facts, waiting for the volume to make them matter.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2" name="Google Shape;282;p34"/>
          <p:cNvSpPr/>
          <p:nvPr/>
        </p:nvSpPr>
        <p:spPr>
          <a:xfrm>
            <a:off x="6245352" y="1847088"/>
            <a:ext cx="5440680" cy="3584448"/>
          </a:xfrm>
          <a:prstGeom prst="rect">
            <a:avLst/>
          </a:prstGeom>
          <a:solidFill>
            <a:srgbClr val="FFFFFF"/>
          </a:solidFill>
          <a:ln cap="flat" cmpd="sng" w="12700">
            <a:solidFill>
              <a:srgbClr val="DDE2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3" name="Google Shape;283;p34"/>
          <p:cNvSpPr/>
          <p:nvPr/>
        </p:nvSpPr>
        <p:spPr>
          <a:xfrm>
            <a:off x="6245352" y="1847088"/>
            <a:ext cx="5440680" cy="475488"/>
          </a:xfrm>
          <a:prstGeom prst="rect">
            <a:avLst/>
          </a:prstGeom>
          <a:solidFill>
            <a:srgbClr val="14304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34"/>
          <p:cNvSpPr txBox="1"/>
          <p:nvPr/>
        </p:nvSpPr>
        <p:spPr>
          <a:xfrm>
            <a:off x="6446520" y="1847088"/>
            <a:ext cx="5038344" cy="47548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WOULD CHANGE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" name="Google Shape;285;p34"/>
          <p:cNvSpPr txBox="1"/>
          <p:nvPr/>
        </p:nvSpPr>
        <p:spPr>
          <a:xfrm>
            <a:off x="6519672" y="2514600"/>
            <a:ext cx="4892040" cy="3017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2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›  </a:t>
            </a:r>
            <a:r>
              <a:rPr b="1" i="0" lang="en-US" sz="12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Incremental models. </a:t>
            </a:r>
            <a:r>
              <a:rPr b="0" i="0" lang="en-US" sz="120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Marts rebuild in full today; at volume they become incremental on the partition column.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›  </a:t>
            </a:r>
            <a:r>
              <a:rPr b="1" i="0" lang="en-US" sz="12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Deployment topology. </a:t>
            </a:r>
            <a:r>
              <a:rPr b="0" i="0" lang="en-US" sz="120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One VM with SQLite becomes Postgres-backed Dagster, a separate code server, per-run containers.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›  </a:t>
            </a:r>
            <a:r>
              <a:rPr b="1" i="0" lang="en-US" sz="12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Ingestion pattern. </a:t>
            </a:r>
            <a:r>
              <a:rPr b="0" i="0" lang="en-US" sz="120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A static snapshot is polled; a live source moves to CDC or event-driven arrival.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›  </a:t>
            </a:r>
            <a:r>
              <a:rPr b="1" i="0" lang="en-US" sz="12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Cost controls. </a:t>
            </a:r>
            <a:r>
              <a:rPr b="0" i="0" lang="en-US" sz="120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Slot reservations, byte-scanned budgets and per-consumer quotas once scans stop being trivial.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22000"/>
              </a:lnSpc>
              <a:spcBef>
                <a:spcPts val="9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1" i="0" lang="en-US" sz="12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›  </a:t>
            </a:r>
            <a:r>
              <a:rPr b="1" i="0" lang="en-US" sz="12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Serving layer. </a:t>
            </a:r>
            <a:r>
              <a:rPr b="0" i="0" lang="en-US" sz="120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Notebooks and the console suffice today; a BI semantic layer follows the user count.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34"/>
          <p:cNvSpPr/>
          <p:nvPr/>
        </p:nvSpPr>
        <p:spPr>
          <a:xfrm>
            <a:off x="502920" y="5596128"/>
            <a:ext cx="11183112" cy="566928"/>
          </a:xfrm>
          <a:prstGeom prst="rect">
            <a:avLst/>
          </a:prstGeom>
          <a:solidFill>
            <a:srgbClr val="FFFFFF"/>
          </a:solidFill>
          <a:ln cap="flat" cmpd="sng" w="15875">
            <a:solidFill>
              <a:srgbClr val="E079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34"/>
          <p:cNvSpPr txBox="1"/>
          <p:nvPr/>
        </p:nvSpPr>
        <p:spPr>
          <a:xfrm>
            <a:off x="758952" y="5596128"/>
            <a:ext cx="1067104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1" i="0" lang="en-US" sz="125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Honest caveat:</a:t>
            </a:r>
            <a:r>
              <a:rPr b="0" i="0" lang="en-US" sz="125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  at ~120 MB, partitioning and clustering express the intended access pattern — they are not a measured speedup on this sample. We present them as scale-aware design, not as a performance result.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8FA"/>
        </a:solidFill>
      </p:bgPr>
    </p:bg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14"/>
          <p:cNvSpPr txBox="1"/>
          <p:nvPr/>
        </p:nvSpPr>
        <p:spPr>
          <a:xfrm>
            <a:off x="502920" y="292608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TECHNICAL FOUNDATION  ·  8 OF 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3" name="Google Shape;293;p14"/>
          <p:cNvSpPr txBox="1"/>
          <p:nvPr/>
        </p:nvSpPr>
        <p:spPr>
          <a:xfrm>
            <a:off x="484632" y="548640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Why the Architecture Is Part of the Business Value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14"/>
          <p:cNvSpPr/>
          <p:nvPr/>
        </p:nvSpPr>
        <p:spPr>
          <a:xfrm>
            <a:off x="502920" y="1207008"/>
            <a:ext cx="960120" cy="50800"/>
          </a:xfrm>
          <a:prstGeom prst="rect">
            <a:avLst/>
          </a:prstGeom>
          <a:solidFill>
            <a:srgbClr val="E079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14"/>
          <p:cNvSpPr/>
          <p:nvPr/>
        </p:nvSpPr>
        <p:spPr>
          <a:xfrm>
            <a:off x="502920" y="1508760"/>
            <a:ext cx="3529584" cy="34290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DE2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14"/>
          <p:cNvSpPr/>
          <p:nvPr/>
        </p:nvSpPr>
        <p:spPr>
          <a:xfrm>
            <a:off x="502920" y="1508760"/>
            <a:ext cx="3529584" cy="566928"/>
          </a:xfrm>
          <a:prstGeom prst="rect">
            <a:avLst/>
          </a:prstGeom>
          <a:solidFill>
            <a:srgbClr val="14304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14"/>
          <p:cNvSpPr txBox="1"/>
          <p:nvPr/>
        </p:nvSpPr>
        <p:spPr>
          <a:xfrm>
            <a:off x="704088" y="1508760"/>
            <a:ext cx="312724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Delivery → Reviews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8" name="Google Shape;298;p14"/>
          <p:cNvSpPr txBox="1"/>
          <p:nvPr/>
        </p:nvSpPr>
        <p:spPr>
          <a:xfrm>
            <a:off x="758952" y="2286000"/>
            <a:ext cx="3017520" cy="2423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Order timestamps are typed and frozen at ingestion, and payments are kept in their own fact table instead of being joined to order lines. That discipline is what keeps the R$13.5M revenue and R$1.16M late-delivery figures accurate instead of inflated.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9" name="Google Shape;299;p14"/>
          <p:cNvSpPr/>
          <p:nvPr/>
        </p:nvSpPr>
        <p:spPr>
          <a:xfrm>
            <a:off x="4251960" y="1508760"/>
            <a:ext cx="3529584" cy="34290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DE2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0" name="Google Shape;300;p14"/>
          <p:cNvSpPr/>
          <p:nvPr/>
        </p:nvSpPr>
        <p:spPr>
          <a:xfrm>
            <a:off x="4251960" y="1508760"/>
            <a:ext cx="3529584" cy="566928"/>
          </a:xfrm>
          <a:prstGeom prst="rect">
            <a:avLst/>
          </a:prstGeom>
          <a:solidFill>
            <a:srgbClr val="14304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14"/>
          <p:cNvSpPr txBox="1"/>
          <p:nvPr/>
        </p:nvSpPr>
        <p:spPr>
          <a:xfrm>
            <a:off x="4453128" y="1508760"/>
            <a:ext cx="312724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Retention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2" name="Google Shape;302;p14"/>
          <p:cNvSpPr txBox="1"/>
          <p:nvPr/>
        </p:nvSpPr>
        <p:spPr>
          <a:xfrm>
            <a:off x="4507992" y="2286000"/>
            <a:ext cx="3017520" cy="2423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dim_customer is keyed on customer_unique_id, not the per-order customer_id every raw table uses. Get that key wrong and Olist looks like it has zero repeat customers — this one modeling decision is what makes the 3.1% repeat rate visible at all.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3" name="Google Shape;303;p14"/>
          <p:cNvSpPr/>
          <p:nvPr/>
        </p:nvSpPr>
        <p:spPr>
          <a:xfrm>
            <a:off x="8001000" y="1508760"/>
            <a:ext cx="3529584" cy="34290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DE2E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14"/>
          <p:cNvSpPr/>
          <p:nvPr/>
        </p:nvSpPr>
        <p:spPr>
          <a:xfrm>
            <a:off x="8001000" y="1508760"/>
            <a:ext cx="3529584" cy="566928"/>
          </a:xfrm>
          <a:prstGeom prst="rect">
            <a:avLst/>
          </a:prstGeom>
          <a:solidFill>
            <a:srgbClr val="14304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5" name="Google Shape;305;p14"/>
          <p:cNvSpPr txBox="1"/>
          <p:nvPr/>
        </p:nvSpPr>
        <p:spPr>
          <a:xfrm>
            <a:off x="8202168" y="1508760"/>
            <a:ext cx="3127248" cy="56692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700"/>
              <a:buFont typeface="Arial"/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Geography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6" name="Google Shape;306;p14"/>
          <p:cNvSpPr txBox="1"/>
          <p:nvPr/>
        </p:nvSpPr>
        <p:spPr>
          <a:xfrm>
            <a:off x="8257032" y="2286000"/>
            <a:ext cx="3017520" cy="24231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4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int_geolocation_deduped collapses ~1M raw coordinate rows to one reliable point per zip code before it reaches dim_customer. Skip that step and city/state revenue totals double-count, and the 3-state concentration finding becomes noise.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14"/>
          <p:cNvSpPr/>
          <p:nvPr/>
        </p:nvSpPr>
        <p:spPr>
          <a:xfrm>
            <a:off x="502920" y="5166360"/>
            <a:ext cx="11183112" cy="1051560"/>
          </a:xfrm>
          <a:prstGeom prst="rect">
            <a:avLst/>
          </a:prstGeom>
          <a:solidFill>
            <a:srgbClr val="F7F8FA"/>
          </a:solidFill>
          <a:ln cap="flat" cmpd="sng" w="15875">
            <a:solidFill>
              <a:srgbClr val="E0793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14"/>
          <p:cNvSpPr txBox="1"/>
          <p:nvPr/>
        </p:nvSpPr>
        <p:spPr>
          <a:xfrm>
            <a:off x="777240" y="5303520"/>
            <a:ext cx="106070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50"/>
              <a:buFont typeface="Arial"/>
              <a:buNone/>
            </a:pPr>
            <a:r>
              <a:rPr b="1" i="0" lang="en-US" sz="165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Bottom line: the marts rebuild themselves the moment new data lands, 79 tests guard them on every build, and non-engineers can already query them directly — this stays a live, self-serve capability, not a one-off report.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9" name="Google Shape;309;p14"/>
          <p:cNvSpPr txBox="1"/>
          <p:nvPr/>
        </p:nvSpPr>
        <p:spPr>
          <a:xfrm>
            <a:off x="502920" y="6519672"/>
            <a:ext cx="8686800" cy="1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Olist marketplace analysis  ·  olist_marts (BigQuery)  ·  99,441 orders, Sep 2016 – Oct 2018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0" name="Google Shape;310;p14"/>
          <p:cNvSpPr txBox="1"/>
          <p:nvPr/>
        </p:nvSpPr>
        <p:spPr>
          <a:xfrm>
            <a:off x="11475720" y="6519672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13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8FA"/>
        </a:solid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6"/>
          <p:cNvSpPr txBox="1"/>
          <p:nvPr/>
        </p:nvSpPr>
        <p:spPr>
          <a:xfrm>
            <a:off x="502920" y="139773"/>
            <a:ext cx="8229600" cy="2000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BUSINESS VALUE  ·  DRIVER 1 OF 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6" name="Google Shape;316;p6"/>
          <p:cNvSpPr txBox="1"/>
          <p:nvPr/>
        </p:nvSpPr>
        <p:spPr>
          <a:xfrm>
            <a:off x="484632" y="548640"/>
            <a:ext cx="10515600" cy="4154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Delivery Reliability to safeguard Olist’s reputation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7" name="Google Shape;317;p6"/>
          <p:cNvSpPr/>
          <p:nvPr/>
        </p:nvSpPr>
        <p:spPr>
          <a:xfrm>
            <a:off x="502920" y="1207008"/>
            <a:ext cx="960120" cy="50800"/>
          </a:xfrm>
          <a:prstGeom prst="rect">
            <a:avLst/>
          </a:prstGeom>
          <a:solidFill>
            <a:srgbClr val="E079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chart_delivery_reviews.png" id="318" name="Google Shape;318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14686" y="1322251"/>
            <a:ext cx="6263640" cy="2998361"/>
          </a:xfrm>
          <a:prstGeom prst="rect">
            <a:avLst/>
          </a:prstGeom>
          <a:noFill/>
          <a:ln>
            <a:noFill/>
          </a:ln>
        </p:spPr>
      </p:pic>
      <p:sp>
        <p:nvSpPr>
          <p:cNvPr id="319" name="Google Shape;319;p6"/>
          <p:cNvSpPr txBox="1"/>
          <p:nvPr/>
        </p:nvSpPr>
        <p:spPr>
          <a:xfrm>
            <a:off x="502920" y="4334256"/>
            <a:ext cx="6035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1" lang="en-US" sz="130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Avg. review score &amp; dissatisfied-customer rate, by how late the delivery ran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0" name="Google Shape;320;p6"/>
          <p:cNvSpPr txBox="1"/>
          <p:nvPr/>
        </p:nvSpPr>
        <p:spPr>
          <a:xfrm>
            <a:off x="6975229" y="2250364"/>
            <a:ext cx="4800600" cy="85677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›  </a:t>
            </a:r>
            <a:r>
              <a:rPr b="1" i="0" lang="en-US" sz="16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Reviews collapse fast. </a:t>
            </a:r>
            <a:r>
              <a:rPr b="0" i="0" lang="en-US" sz="160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4–7 days late is enough to flip 68% of buyers into dissatisfied customers (1–2★); beyond ~8 days the score simply floors near 1.7 — no worse.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1" name="Google Shape;321;p6"/>
          <p:cNvSpPr txBox="1"/>
          <p:nvPr/>
        </p:nvSpPr>
        <p:spPr>
          <a:xfrm>
            <a:off x="502920" y="6519672"/>
            <a:ext cx="8686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Olist marketplace analysis  ·  olist_marts (BigQuery)  ·  99,441 orders, Sep 2016 – Oct 2018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2" name="Google Shape;322;p6"/>
          <p:cNvSpPr txBox="1"/>
          <p:nvPr/>
        </p:nvSpPr>
        <p:spPr>
          <a:xfrm>
            <a:off x="11475720" y="6519672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15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3" name="Google Shape;323;p6"/>
          <p:cNvSpPr txBox="1"/>
          <p:nvPr/>
        </p:nvSpPr>
        <p:spPr>
          <a:xfrm>
            <a:off x="779277" y="5008639"/>
            <a:ext cx="11155680" cy="88639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It is crucial to deliver items on-time, or at least within 3 days late, as this can have</a:t>
            </a:r>
            <a:br>
              <a:rPr b="1" i="0" lang="en-US" sz="24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24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a significant impact on review scores and hence the reputation of Olist.</a:t>
            </a:r>
            <a:endParaRPr b="1" i="0" sz="24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4" name="Google Shape;324;p6"/>
          <p:cNvSpPr/>
          <p:nvPr/>
        </p:nvSpPr>
        <p:spPr>
          <a:xfrm>
            <a:off x="551157" y="5063829"/>
            <a:ext cx="11383800" cy="886397"/>
          </a:xfrm>
          <a:prstGeom prst="rect">
            <a:avLst/>
          </a:prstGeom>
          <a:noFill/>
          <a:ln cap="flat" cmpd="sng" w="47625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7F8FA"/>
        </a:solidFill>
      </p:bgPr>
    </p:bg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8"/>
          <p:cNvSpPr txBox="1"/>
          <p:nvPr/>
        </p:nvSpPr>
        <p:spPr>
          <a:xfrm>
            <a:off x="502920" y="292608"/>
            <a:ext cx="8229600" cy="2000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BUSINESS VALUE  ·  DRIVER 2 OF 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"/>
          <p:cNvSpPr txBox="1"/>
          <p:nvPr/>
        </p:nvSpPr>
        <p:spPr>
          <a:xfrm>
            <a:off x="484632" y="548640"/>
            <a:ext cx="10515600" cy="38472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Informed strategy for board: Revenue Is Concentrated in the Southeast… 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1" name="Google Shape;331;p8"/>
          <p:cNvSpPr/>
          <p:nvPr/>
        </p:nvSpPr>
        <p:spPr>
          <a:xfrm>
            <a:off x="502920" y="1207008"/>
            <a:ext cx="960120" cy="50800"/>
          </a:xfrm>
          <a:prstGeom prst="rect">
            <a:avLst/>
          </a:prstGeom>
          <a:solidFill>
            <a:srgbClr val="E079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chart_geo_concentration.png" id="332" name="Google Shape;332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80946" y="1617809"/>
            <a:ext cx="6263640" cy="2998361"/>
          </a:xfrm>
          <a:prstGeom prst="rect">
            <a:avLst/>
          </a:prstGeom>
          <a:noFill/>
          <a:ln>
            <a:noFill/>
          </a:ln>
        </p:spPr>
      </p:pic>
      <p:sp>
        <p:nvSpPr>
          <p:cNvPr id="333" name="Google Shape;333;p8"/>
          <p:cNvSpPr txBox="1"/>
          <p:nvPr/>
        </p:nvSpPr>
        <p:spPr>
          <a:xfrm>
            <a:off x="1119146" y="4616171"/>
            <a:ext cx="603504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1" lang="en-US" sz="130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% of total revenue and cumulative share, top 7 states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4" name="Google Shape;334;p8"/>
          <p:cNvSpPr txBox="1"/>
          <p:nvPr/>
        </p:nvSpPr>
        <p:spPr>
          <a:xfrm>
            <a:off x="6858000" y="1482377"/>
            <a:ext cx="4800600" cy="29293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›  </a:t>
            </a:r>
            <a:r>
              <a:rPr b="1" i="0" lang="en-US" sz="16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Three states, most of the revenue. </a:t>
            </a:r>
            <a:r>
              <a:rPr b="0" i="0" lang="en-US" sz="160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São Paulo alone is 38%; SP + RJ + MG together are 63%; the top 7 states reach 82%. All three states are in the </a:t>
            </a:r>
            <a:r>
              <a:rPr b="1" i="0" lang="en-US" sz="1600" u="sng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Southeast region</a:t>
            </a:r>
            <a:r>
              <a:rPr b="0" i="0" lang="en-US" sz="160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6000"/>
              </a:lnSpc>
              <a:spcBef>
                <a:spcPts val="14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›  </a:t>
            </a:r>
            <a:r>
              <a:rPr b="1" i="0" lang="en-US" sz="16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The long tail is real but thin. </a:t>
            </a:r>
            <a:r>
              <a:rPr b="0" i="0" lang="en-US" sz="160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~4,200 smaller cities share the remaining ~39%; 2,905 of them have ≤5 orders each — only ~7% of revenue combined.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16000"/>
              </a:lnSpc>
              <a:spcBef>
                <a:spcPts val="140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›  </a:t>
            </a:r>
            <a:r>
              <a:rPr b="1" i="0" lang="en-US" sz="1600" u="none" cap="none" strike="noStrike">
                <a:solidFill>
                  <a:srgbClr val="1B3A5C"/>
                </a:solidFill>
                <a:latin typeface="Calibri"/>
                <a:ea typeface="Calibri"/>
                <a:cs typeface="Calibri"/>
                <a:sym typeface="Calibri"/>
              </a:rPr>
              <a:t>Distance changes behaviour, not loyalty. </a:t>
            </a:r>
            <a:r>
              <a:rPr b="0" i="0" lang="en-US" sz="160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Northeast customers (CE, PE, BA) order less often but bigger — avg. order value R$150–171 vs R$126 in SP.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5" name="Google Shape;335;p8"/>
          <p:cNvSpPr txBox="1"/>
          <p:nvPr/>
        </p:nvSpPr>
        <p:spPr>
          <a:xfrm>
            <a:off x="502920" y="6519672"/>
            <a:ext cx="8686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Olist marketplace analysis  ·  olist_marts (BigQuery)  ·  99,441 orders, Sep 2016 – Oct 2018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p8"/>
          <p:cNvSpPr txBox="1"/>
          <p:nvPr/>
        </p:nvSpPr>
        <p:spPr>
          <a:xfrm>
            <a:off x="11475720" y="6519672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17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7" name="Google Shape;337;p8"/>
          <p:cNvSpPr txBox="1"/>
          <p:nvPr/>
        </p:nvSpPr>
        <p:spPr>
          <a:xfrm>
            <a:off x="778565" y="5619579"/>
            <a:ext cx="11155680" cy="4431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US" sz="24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Which region of Brazil should Olist focus on growing their presence moving forward?</a:t>
            </a:r>
            <a:endParaRPr b="1" i="0" sz="2400" u="none" cap="none" strike="noStrike">
              <a:solidFill>
                <a:srgbClr val="FF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"/>
          <p:cNvSpPr/>
          <p:nvPr/>
        </p:nvSpPr>
        <p:spPr>
          <a:xfrm>
            <a:off x="502920" y="5605884"/>
            <a:ext cx="11383800" cy="548027"/>
          </a:xfrm>
          <a:prstGeom prst="rect">
            <a:avLst/>
          </a:prstGeom>
          <a:noFill/>
          <a:ln cap="flat" cmpd="sng" w="47625">
            <a:solidFill>
              <a:srgbClr val="21364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2" name="Shape 3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3" name="Google Shape;343;g3faa39e91dc_0_0"/>
          <p:cNvSpPr txBox="1"/>
          <p:nvPr/>
        </p:nvSpPr>
        <p:spPr>
          <a:xfrm>
            <a:off x="502920" y="292608"/>
            <a:ext cx="82296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BUSINESS VALUE  ·  APPENDIX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Google Shape;344;g3faa39e91dc_0_0"/>
          <p:cNvSpPr txBox="1"/>
          <p:nvPr/>
        </p:nvSpPr>
        <p:spPr>
          <a:xfrm>
            <a:off x="484632" y="548640"/>
            <a:ext cx="105156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Dashboard for Executive Overview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45" name="Google Shape;345;g3faa39e91dc_0_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98775" y="1330440"/>
            <a:ext cx="9378843" cy="55275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g409df0ac948_0_12"/>
          <p:cNvSpPr txBox="1"/>
          <p:nvPr/>
        </p:nvSpPr>
        <p:spPr>
          <a:xfrm>
            <a:off x="502920" y="292608"/>
            <a:ext cx="82296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BUSINESS VALUE  ·  APPENDIX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1" name="Google Shape;351;g409df0ac948_0_12"/>
          <p:cNvSpPr txBox="1"/>
          <p:nvPr/>
        </p:nvSpPr>
        <p:spPr>
          <a:xfrm>
            <a:off x="484632" y="548640"/>
            <a:ext cx="105156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Customer </a:t>
            </a:r>
            <a:r>
              <a:rPr b="1" lang="en-US" sz="2500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&amp; Seller Geography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52" name="Google Shape;352;g409df0ac948_0_1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67150" y="1025640"/>
            <a:ext cx="9578238" cy="55275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g3fb723d6469_0_0"/>
          <p:cNvSpPr txBox="1"/>
          <p:nvPr/>
        </p:nvSpPr>
        <p:spPr>
          <a:xfrm>
            <a:off x="502920" y="292608"/>
            <a:ext cx="82296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BUSINESS VALUE  ·  APPENDIX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8" name="Google Shape;358;g3fb723d6469_0_0"/>
          <p:cNvSpPr txBox="1"/>
          <p:nvPr/>
        </p:nvSpPr>
        <p:spPr>
          <a:xfrm>
            <a:off x="484632" y="548640"/>
            <a:ext cx="105156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Customer Purchase &amp; Payment History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59" name="Google Shape;359;g3fb723d6469_0_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23217" y="1178040"/>
            <a:ext cx="9525616" cy="55275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g409df0ac948_0_19"/>
          <p:cNvSpPr txBox="1"/>
          <p:nvPr/>
        </p:nvSpPr>
        <p:spPr>
          <a:xfrm>
            <a:off x="502920" y="292608"/>
            <a:ext cx="82296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BUSINESS VALUE  ·  APPENDIX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5" name="Google Shape;365;g409df0ac948_0_19"/>
          <p:cNvSpPr txBox="1"/>
          <p:nvPr/>
        </p:nvSpPr>
        <p:spPr>
          <a:xfrm>
            <a:off x="484632" y="548640"/>
            <a:ext cx="105156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Customer Experience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66" name="Google Shape;366;g409df0ac948_0_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49948" y="1178040"/>
            <a:ext cx="9635785" cy="55275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0" name="Shape 3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Google Shape;371;g409df0ac948_0_26"/>
          <p:cNvSpPr txBox="1"/>
          <p:nvPr/>
        </p:nvSpPr>
        <p:spPr>
          <a:xfrm>
            <a:off x="502920" y="292608"/>
            <a:ext cx="82296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BUSINESS VALUE  ·  APPENDIX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2" name="Google Shape;372;g409df0ac948_0_26"/>
          <p:cNvSpPr txBox="1"/>
          <p:nvPr/>
        </p:nvSpPr>
        <p:spPr>
          <a:xfrm>
            <a:off x="484632" y="548640"/>
            <a:ext cx="105156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Product Performance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73" name="Google Shape;373;g409df0ac948_0_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23200" y="1178040"/>
            <a:ext cx="9561186" cy="552756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g3fb723d6469_0_7"/>
          <p:cNvSpPr txBox="1"/>
          <p:nvPr/>
        </p:nvSpPr>
        <p:spPr>
          <a:xfrm>
            <a:off x="502920" y="292608"/>
            <a:ext cx="82296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BUSINESS VALUE  ·  APPENDIX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g3fb723d6469_0_7"/>
          <p:cNvSpPr txBox="1"/>
          <p:nvPr/>
        </p:nvSpPr>
        <p:spPr>
          <a:xfrm>
            <a:off x="484632" y="548640"/>
            <a:ext cx="105156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lang="en-US" sz="2500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Regional Sales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0" name="Google Shape;380;g3fb723d6469_0_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50275" y="1094815"/>
            <a:ext cx="9490332" cy="55275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g409df0ac948_0_33"/>
          <p:cNvSpPr txBox="1"/>
          <p:nvPr/>
        </p:nvSpPr>
        <p:spPr>
          <a:xfrm>
            <a:off x="502920" y="292608"/>
            <a:ext cx="82296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BUSINESS VALUE  ·  APPENDIX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6" name="Google Shape;386;g409df0ac948_0_33"/>
          <p:cNvSpPr txBox="1"/>
          <p:nvPr/>
        </p:nvSpPr>
        <p:spPr>
          <a:xfrm>
            <a:off x="484632" y="548640"/>
            <a:ext cx="105156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Customer Value &amp; Retention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7" name="Google Shape;387;g409df0ac948_0_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59852" y="1178040"/>
            <a:ext cx="9635785" cy="55275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g409df0ac948_0_0"/>
          <p:cNvSpPr txBox="1"/>
          <p:nvPr/>
        </p:nvSpPr>
        <p:spPr>
          <a:xfrm>
            <a:off x="502920" y="292608"/>
            <a:ext cx="82296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BUSINESS VALUE  ·  APPENDIX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3" name="Google Shape;393;g409df0ac948_0_0"/>
          <p:cNvSpPr txBox="1"/>
          <p:nvPr/>
        </p:nvSpPr>
        <p:spPr>
          <a:xfrm>
            <a:off x="484632" y="548640"/>
            <a:ext cx="10515600" cy="47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Brazilian States, by Regions with Top 10 revenue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4" name="Google Shape;394;g409df0ac948_0_0"/>
          <p:cNvSpPr/>
          <p:nvPr/>
        </p:nvSpPr>
        <p:spPr>
          <a:xfrm>
            <a:off x="502920" y="1207008"/>
            <a:ext cx="960000" cy="50700"/>
          </a:xfrm>
          <a:prstGeom prst="rect">
            <a:avLst/>
          </a:prstGeom>
          <a:solidFill>
            <a:srgbClr val="E079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g409df0ac948_0_0"/>
          <p:cNvSpPr txBox="1"/>
          <p:nvPr/>
        </p:nvSpPr>
        <p:spPr>
          <a:xfrm>
            <a:off x="502920" y="1417320"/>
            <a:ext cx="11155800" cy="597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We use Streamlit to provide a visualisation of the regions that have generated the top 10 revenue. PowerBI has limitation to provide this data.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6" name="Google Shape;396;g409df0ac948_0_0"/>
          <p:cNvSpPr txBox="1"/>
          <p:nvPr/>
        </p:nvSpPr>
        <p:spPr>
          <a:xfrm>
            <a:off x="502920" y="6519672"/>
            <a:ext cx="86868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Olist marketplace analysis  ·  olist_marts (BigQuery)  ·  99,441 orders, Sep 2016 – Oct 2018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7" name="Google Shape;397;g409df0ac948_0_0"/>
          <p:cNvSpPr txBox="1"/>
          <p:nvPr/>
        </p:nvSpPr>
        <p:spPr>
          <a:xfrm>
            <a:off x="11475720" y="6519672"/>
            <a:ext cx="3657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20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8" name="Google Shape;398;g409df0ac948_0_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81113" y="2052301"/>
            <a:ext cx="7730424" cy="401658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2" name="Shape 4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3" name="Google Shape;403;p10"/>
          <p:cNvSpPr txBox="1"/>
          <p:nvPr/>
        </p:nvSpPr>
        <p:spPr>
          <a:xfrm>
            <a:off x="502920" y="292608"/>
            <a:ext cx="8229600" cy="29260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E0793A"/>
                </a:solidFill>
                <a:latin typeface="Calibri"/>
                <a:ea typeface="Calibri"/>
                <a:cs typeface="Calibri"/>
                <a:sym typeface="Calibri"/>
              </a:rPr>
              <a:t>BUSINESS VALUE  ·  APPENDIX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4" name="Google Shape;404;p10"/>
          <p:cNvSpPr txBox="1"/>
          <p:nvPr/>
        </p:nvSpPr>
        <p:spPr>
          <a:xfrm>
            <a:off x="484632" y="548640"/>
            <a:ext cx="10515600" cy="65836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b="1" i="0" lang="en-US" sz="2500" u="none" cap="none" strike="noStrike">
                <a:solidFill>
                  <a:srgbClr val="14304D"/>
                </a:solidFill>
                <a:latin typeface="Calibri"/>
                <a:ea typeface="Calibri"/>
                <a:cs typeface="Calibri"/>
                <a:sym typeface="Calibri"/>
              </a:rPr>
              <a:t>Brazilian States, by Region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5" name="Google Shape;405;p10"/>
          <p:cNvSpPr/>
          <p:nvPr/>
        </p:nvSpPr>
        <p:spPr>
          <a:xfrm>
            <a:off x="502920" y="1207008"/>
            <a:ext cx="960120" cy="50800"/>
          </a:xfrm>
          <a:prstGeom prst="rect">
            <a:avLst/>
          </a:prstGeom>
          <a:solidFill>
            <a:srgbClr val="E079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6" name="Google Shape;406;p10"/>
          <p:cNvSpPr txBox="1"/>
          <p:nvPr/>
        </p:nvSpPr>
        <p:spPr>
          <a:xfrm>
            <a:off x="502920" y="1417320"/>
            <a:ext cx="1115568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en-US" sz="1600" u="none" cap="none" strike="noStrike">
                <a:solidFill>
                  <a:srgbClr val="222C37"/>
                </a:solidFill>
                <a:latin typeface="Calibri"/>
                <a:ea typeface="Calibri"/>
                <a:cs typeface="Calibri"/>
                <a:sym typeface="Calibri"/>
              </a:rPr>
              <a:t>All 27 Brazilian states (26 states plus the Federal District), mapped to their official IBGE region — the same regions used in Section 3's Northeast-vs-core comparisons.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407" name="Google Shape;407;p10"/>
          <p:cNvGraphicFramePr/>
          <p:nvPr/>
        </p:nvGraphicFramePr>
        <p:xfrm>
          <a:off x="502920" y="20760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{C796153C-F114-4815-A74F-1C015B028501}</a:tableStyleId>
              </a:tblPr>
              <a:tblGrid>
                <a:gridCol w="760000"/>
                <a:gridCol w="2680000"/>
                <a:gridCol w="2050000"/>
              </a:tblGrid>
              <a:tr h="3042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State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14304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Full name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14304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Region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14304D"/>
                    </a:solidFill>
                  </a:tcPr>
                </a:tc>
              </a:tr>
              <a:tr h="3042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4304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Acre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North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</a:tr>
              <a:tr h="3042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4304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AP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Amapá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North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7F8FA"/>
                    </a:solidFill>
                  </a:tcPr>
                </a:tc>
              </a:tr>
              <a:tr h="3042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4304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AM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Amazonas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North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</a:tr>
              <a:tr h="3042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4304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Pará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North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7F8FA"/>
                    </a:solidFill>
                  </a:tcPr>
                </a:tc>
              </a:tr>
              <a:tr h="3042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4304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RO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Rondônia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North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</a:tr>
              <a:tr h="3042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4304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RR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Roraima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North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7F8FA"/>
                    </a:solidFill>
                  </a:tcPr>
                </a:tc>
              </a:tr>
              <a:tr h="3042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4304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TO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Tocantins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North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</a:tr>
              <a:tr h="3042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4304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AL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Alagoas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Northeast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7F8FA"/>
                    </a:solidFill>
                  </a:tcPr>
                </a:tc>
              </a:tr>
              <a:tr h="3042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4304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Bahia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Northeast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</a:tr>
              <a:tr h="3042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4304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CE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Ceará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Northeast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7F8FA"/>
                    </a:solidFill>
                  </a:tcPr>
                </a:tc>
              </a:tr>
              <a:tr h="3042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4304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Maranhão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Northeast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</a:tr>
              <a:tr h="3042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4304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PB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Paraíba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Northeast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7F8FA"/>
                    </a:solidFill>
                  </a:tcPr>
                </a:tc>
              </a:tr>
              <a:tr h="3042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4304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PE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Pernambuco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Northeast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08" name="Google Shape;408;p10"/>
          <p:cNvGraphicFramePr/>
          <p:nvPr/>
        </p:nvGraphicFramePr>
        <p:xfrm>
          <a:off x="6232920" y="20760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{C796153C-F114-4815-A74F-1C015B028501}</a:tableStyleId>
              </a:tblPr>
              <a:tblGrid>
                <a:gridCol w="760000"/>
                <a:gridCol w="2680000"/>
                <a:gridCol w="2050000"/>
              </a:tblGrid>
              <a:tr h="284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State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14304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Full name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14304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300"/>
                        <a:buFont typeface="Arial"/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Region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14304D"/>
                    </a:solidFill>
                  </a:tcPr>
                </a:tc>
              </a:tr>
              <a:tr h="284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4304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PI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Piauí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Northeast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</a:tr>
              <a:tr h="284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4304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RN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Rio Grande do Norte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Northeast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7F8FA"/>
                    </a:solidFill>
                  </a:tcPr>
                </a:tc>
              </a:tr>
              <a:tr h="284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4304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Sergipe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Northeast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</a:tr>
              <a:tr h="284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4304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DF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Distrito Federal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Central-West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7F8FA"/>
                    </a:solidFill>
                  </a:tcPr>
                </a:tc>
              </a:tr>
              <a:tr h="284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4304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Goiás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Central-West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</a:tr>
              <a:tr h="284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4304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MT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Mato Grosso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Central-West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7F8FA"/>
                    </a:solidFill>
                  </a:tcPr>
                </a:tc>
              </a:tr>
              <a:tr h="284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4304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MS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Mato Grosso do Sul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Central-West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</a:tr>
              <a:tr h="284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4304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ES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Espírito Santo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Southeast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7F8FA"/>
                    </a:solidFill>
                  </a:tcPr>
                </a:tc>
              </a:tr>
              <a:tr h="284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4304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MG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Minas Gerais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Southeast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</a:tr>
              <a:tr h="284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4304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RJ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Rio de Janeiro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Southeast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7F8FA"/>
                    </a:solidFill>
                  </a:tcPr>
                </a:tc>
              </a:tr>
              <a:tr h="284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4304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SP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São Paulo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Southeast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</a:tr>
              <a:tr h="284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4304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PR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Paraná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South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7F8FA"/>
                    </a:solidFill>
                  </a:tcPr>
                </a:tc>
              </a:tr>
              <a:tr h="284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4304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RS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Rio Grande do Sul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South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FFFFF"/>
                    </a:solidFill>
                  </a:tcPr>
                </a:tc>
              </a:tr>
              <a:tr h="284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14304D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SC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Santa Catarina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7F8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Arial"/>
                        <a:buNone/>
                      </a:pPr>
                      <a:r>
                        <a:rPr b="0" lang="en-US" sz="1200" u="none" cap="none" strike="noStrike">
                          <a:solidFill>
                            <a:srgbClr val="222C37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South</a:t>
                      </a:r>
                      <a:endParaRPr sz="1400" u="none" cap="none" strike="noStrike"/>
                    </a:p>
                  </a:txBody>
                  <a:tcPr marT="27425" marB="27425" marR="128025" marL="128025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409" name="Google Shape;409;p10"/>
          <p:cNvSpPr txBox="1"/>
          <p:nvPr/>
        </p:nvSpPr>
        <p:spPr>
          <a:xfrm>
            <a:off x="502920" y="6519672"/>
            <a:ext cx="86868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Olist marketplace analysis  ·  olist_marts (BigQuery)  ·  99,441 orders, Sep 2016 – Oct 2018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0" name="Google Shape;410;p10"/>
          <p:cNvSpPr txBox="1"/>
          <p:nvPr/>
        </p:nvSpPr>
        <p:spPr>
          <a:xfrm>
            <a:off x="11475720" y="6519672"/>
            <a:ext cx="3657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19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1" name="Google Shape;411;p10"/>
          <p:cNvSpPr txBox="1"/>
          <p:nvPr/>
        </p:nvSpPr>
        <p:spPr>
          <a:xfrm>
            <a:off x="502920" y="6336000"/>
            <a:ext cx="11155680" cy="18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5B6B7A"/>
                </a:solidFill>
                <a:latin typeface="Calibri"/>
                <a:ea typeface="Calibri"/>
                <a:cs typeface="Calibri"/>
                <a:sym typeface="Calibri"/>
              </a:rPr>
              <a:t>Source: IBGE — Divisoes Regionais do Brasil (ibge.gov.br/geociencias/organizacao-do-territorio/divisao-regional/15778-divisoes-regionais-do-brasil.html), the Brazilian federal statistics agency responsible for the official state-to-region division.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