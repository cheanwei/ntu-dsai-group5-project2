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0" r:id="rId21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hkuyfpSHJe8Fa87OBW/PwKUiaI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47992FD-8D1F-4616-AC05-1968F3831AED}">
  <a:tblStyle styleId="{B47992FD-8D1F-4616-AC05-1968F3831AE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1" Type="http://schemas.openxmlformats.org/officeDocument/2006/relationships/slide" Target="slides/slide15.xml"/><Relationship Id="rId22" Type="http://customschemas.google.com/relationships/presentationmetadata" Target="metadata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faa39e91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faa39e91d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map; the next slide is the contract. Walk it left to right in about forty seconds — source, raw zone, load, warehouse, consumption — then point out zone 6, data quality, validating staging and marts, and the orange band underneath holding it all together. Two things worth saying out loud: the grey box on the right lists what is deliberately NOT connected, and the whole diagram regenerates from Python, so it is current by construction.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left column is the answer to 'how do you know the data is right?' — each contract turns a class of silent corruption into a failed run. The right column is the answer to 'who runs it?' — nobody; a clock starts ingestion and an event starts the transforms.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If a CTO pushes on any row, the answer is in the right-hand column — we know what we declined and why. The dbt Core vs dbt Cloud line is the one most likely to be challenged: the deciding factor was model-level lineage, not licence cost.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schema-design justification. The one thing to land with a business audience: the orange box. Getting this wrong is how a marketplace reports revenue that does not exist — and the design makes that mistake structurally impossible rather than a rule people have to remember.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left column is coverage, the right column is behaviour — the second matters more. The line that lands with executives: nothing is repaired silently. A test that quietly fixed a bad row would give you a clean dashboard over a broken pipeline.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Lead with the orange card if asked what keeps us up at night. Naming an uncovered gap is deliberate: the reconciliation flag exists and is queryable, but no test blocks on it, so we will not claim coverage we do not have.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caveat at the bottom is the credibility line. Claiming a performance win at 120 MB would be the easiest thing in this deck to disprove, so we say plainly that the layout is intent rather than result.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304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5989320"/>
            <a:ext cx="12191695" cy="54864"/>
          </a:xfrm>
          <a:prstGeom prst="rect">
            <a:avLst/>
          </a:prstGeom>
          <a:solidFill>
            <a:srgbClr val="E079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OLIST MARKETPLACE  ·  DATA ANALYTICS REVIEW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804672" y="2514600"/>
            <a:ext cx="10607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Data to Decisions: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804672" y="3154680"/>
            <a:ext cx="10607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Delivery, Retention &amp; Growth Opportunities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9D6E2"/>
                </a:solidFill>
                <a:latin typeface="Calibri"/>
                <a:ea typeface="Calibri"/>
                <a:cs typeface="Calibri"/>
                <a:sym typeface="Calibri"/>
              </a:rPr>
              <a:t>Executive Summary &amp; Business Value  —  three data-driven questions,</a:t>
            </a:r>
            <a:br>
              <a:rPr b="0" i="0" lang="en-US" sz="1700" u="none" cap="none" strike="noStrike">
                <a:solidFill>
                  <a:srgbClr val="C9D6E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C9D6E2"/>
                </a:solidFill>
                <a:latin typeface="Calibri"/>
                <a:ea typeface="Calibri"/>
                <a:cs typeface="Calibri"/>
                <a:sym typeface="Calibri"/>
              </a:rPr>
              <a:t>answered from a validated single source of truth.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822960" y="6172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8C9CAD"/>
                </a:solidFill>
                <a:latin typeface="Calibri"/>
                <a:ea typeface="Calibri"/>
                <a:cs typeface="Calibri"/>
                <a:sym typeface="Calibri"/>
              </a:rPr>
              <a:t>NTU DSAI · Group 5 Project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EXECUTIVE SUMMARY  ·  1 OF 3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484632" y="548640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304D"/>
                </a:solidFill>
                <a:latin typeface="Calibri"/>
                <a:ea typeface="Calibri"/>
                <a:cs typeface="Calibri"/>
                <a:sym typeface="Calibri"/>
              </a:rPr>
              <a:t>The Problem: Three Questions, One Marketplace</a:t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502920" y="1207008"/>
            <a:ext cx="960120" cy="50800"/>
          </a:xfrm>
          <a:prstGeom prst="rect">
            <a:avLst/>
          </a:prstGeom>
          <a:solidFill>
            <a:srgbClr val="E079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Olist connects ~3,100 sellers to ~96,000 customers across Brazil. Three questions decide where the platform should invest next: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502920" y="2148840"/>
            <a:ext cx="3529584" cy="1965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502920" y="2148840"/>
            <a:ext cx="82296" cy="1965960"/>
          </a:xfrm>
          <a:prstGeom prst="rect">
            <a:avLst/>
          </a:prstGeom>
          <a:solidFill>
            <a:srgbClr val="E079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777240" y="2350008"/>
            <a:ext cx="3026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304D"/>
                </a:solidFill>
                <a:latin typeface="Calibri"/>
                <a:ea typeface="Calibri"/>
                <a:cs typeface="Calibri"/>
                <a:sym typeface="Calibri"/>
              </a:rPr>
              <a:t>1. Delivery &amp; reviews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777240" y="2862072"/>
            <a:ext cx="302666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Does a late delivery drag down customer reviews — and does that cost revenue?</a:t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4251960" y="2148840"/>
            <a:ext cx="3529584" cy="1965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4251960" y="2148840"/>
            <a:ext cx="82296" cy="1965960"/>
          </a:xfrm>
          <a:prstGeom prst="rect">
            <a:avLst/>
          </a:prstGeom>
          <a:solidFill>
            <a:srgbClr val="E079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4526280" y="2350008"/>
            <a:ext cx="3026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304D"/>
                </a:solidFill>
                <a:latin typeface="Calibri"/>
                <a:ea typeface="Calibri"/>
                <a:cs typeface="Calibri"/>
                <a:sym typeface="Calibri"/>
              </a:rPr>
              <a:t>2. Retention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4526280" y="2862072"/>
            <a:ext cx="302666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97% of customers buy exactly once. Why, and is it fixable?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8001000" y="2148840"/>
            <a:ext cx="3529584" cy="1965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8001000" y="2148840"/>
            <a:ext cx="82296" cy="1965960"/>
          </a:xfrm>
          <a:prstGeom prst="rect">
            <a:avLst/>
          </a:prstGeom>
          <a:solidFill>
            <a:srgbClr val="E079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275320" y="2350008"/>
            <a:ext cx="3026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304D"/>
                </a:solidFill>
                <a:latin typeface="Calibri"/>
                <a:ea typeface="Calibri"/>
                <a:cs typeface="Calibri"/>
                <a:sym typeface="Calibri"/>
              </a:rPr>
              <a:t>3. Geography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8275320" y="2862072"/>
            <a:ext cx="302666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Where does revenue actually come from, and how should growth spend follow it?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502920" y="44348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304D"/>
                </a:solidFill>
                <a:latin typeface="Calibri"/>
                <a:ea typeface="Calibri"/>
                <a:cs typeface="Calibri"/>
                <a:sym typeface="Calibri"/>
              </a:rPr>
              <a:t>Dataset at a glance (Section 0)</a:t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502920" y="4846320"/>
            <a:ext cx="2670048" cy="1234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667512" y="4992624"/>
            <a:ext cx="234086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304D"/>
                </a:solidFill>
                <a:latin typeface="Calibri"/>
                <a:ea typeface="Calibri"/>
                <a:cs typeface="Calibri"/>
                <a:sym typeface="Calibri"/>
              </a:rPr>
              <a:t>99.4K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667512" y="5513832"/>
            <a:ext cx="23408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orders · 96.1K customers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3337560" y="4846320"/>
            <a:ext cx="2670048" cy="1234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3502152" y="4992624"/>
            <a:ext cx="234086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304D"/>
                </a:solidFill>
                <a:latin typeface="Calibri"/>
                <a:ea typeface="Calibri"/>
                <a:cs typeface="Calibri"/>
                <a:sym typeface="Calibri"/>
              </a:rPr>
              <a:t>R$13.5M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3502152" y="5513832"/>
            <a:ext cx="23408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product revenue, 24 months</a:t>
            </a:r>
            <a:endParaRPr/>
          </a:p>
        </p:txBody>
      </p:sp>
      <p:sp>
        <p:nvSpPr>
          <p:cNvPr id="117" name="Google Shape;117;p2"/>
          <p:cNvSpPr/>
          <p:nvPr/>
        </p:nvSpPr>
        <p:spPr>
          <a:xfrm>
            <a:off x="6172200" y="4846320"/>
            <a:ext cx="2670048" cy="1234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6336792" y="4992624"/>
            <a:ext cx="234086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304D"/>
                </a:solidFill>
                <a:latin typeface="Calibri"/>
                <a:ea typeface="Calibri"/>
                <a:cs typeface="Calibri"/>
                <a:sym typeface="Calibri"/>
              </a:rPr>
              <a:t>4.09 / 5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6336792" y="5513832"/>
            <a:ext cx="23408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avg. review score (bimodal)</a:t>
            </a:r>
            <a:endParaRPr/>
          </a:p>
        </p:txBody>
      </p:sp>
      <p:sp>
        <p:nvSpPr>
          <p:cNvPr id="120" name="Google Shape;120;p2"/>
          <p:cNvSpPr/>
          <p:nvPr/>
        </p:nvSpPr>
        <p:spPr>
          <a:xfrm>
            <a:off x="9006840" y="4846320"/>
            <a:ext cx="2670048" cy="1234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9171432" y="4992624"/>
            <a:ext cx="234086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304D"/>
                </a:solidFill>
                <a:latin typeface="Calibri"/>
                <a:ea typeface="Calibri"/>
                <a:cs typeface="Calibri"/>
                <a:sym typeface="Calibri"/>
              </a:rPr>
              <a:t>3.1%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9171432" y="5513832"/>
            <a:ext cx="23408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of customers ever repeat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502920" y="651967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Olist marketplace analysis  ·  olist_marts (BigQuery)  ·  99,441 orders, Sep 2016 – Oct 2018</a:t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"/>
          <p:cNvSpPr txBox="1"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EXECUTIVE SUMMARY  ·  2 OF 3</a:t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484632" y="548640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304D"/>
                </a:solidFill>
                <a:latin typeface="Calibri"/>
                <a:ea typeface="Calibri"/>
                <a:cs typeface="Calibri"/>
                <a:sym typeface="Calibri"/>
              </a:rPr>
              <a:t>Our Approach: One Validated Source of Truth</a:t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502920" y="1207008"/>
            <a:ext cx="960120" cy="50800"/>
          </a:xfrm>
          <a:prstGeom prst="rect">
            <a:avLst/>
          </a:prstGeom>
          <a:solidFill>
            <a:srgbClr val="E079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502920" y="1508760"/>
            <a:ext cx="612648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Validated the warehouse first. </a:t>
            </a:r>
            <a:r>
              <a:rPr b="0" i="0" lang="en-US" sz="1600" u="none" cap="none" strike="noStrike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Checked the dbt star schema (4 facts, 4 shared dimensions) against the raw source tables — every fact's row count matches (e.g. fct_order_items: 112,650 = 112,650). No structural errors.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Analysis reads governed data only. </a:t>
            </a:r>
            <a:r>
              <a:rPr b="0" i="0" lang="en-US" sz="1600" u="none" cap="none" strike="noStrike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All three deep-dives query the olist_marts layer via SQL — never raw or staging — so every analyst who re-runs this gets the same numbers.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Cost-aware by design. </a:t>
            </a:r>
            <a:r>
              <a:rPr b="0" i="0" lang="en-US" sz="1600" u="none" cap="none" strike="noStrike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Heavy grouping and joins run inside BigQuery; the notebook only pulls back small, aggregated results. No SELECT * on a fact table.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Diagnose, then prescribe. </a:t>
            </a:r>
            <a:r>
              <a:rPr b="0" i="0" lang="en-US" sz="1600" u="none" cap="none" strike="noStrike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Each of the three sections pairs a data-backed diagnosis with a costed, actionable recommendation — not just a chart.</a:t>
            </a:r>
            <a:endParaRPr/>
          </a:p>
        </p:txBody>
      </p:sp>
      <p:sp>
        <p:nvSpPr>
          <p:cNvPr id="133" name="Google Shape;133;p3"/>
          <p:cNvSpPr/>
          <p:nvPr/>
        </p:nvSpPr>
        <p:spPr>
          <a:xfrm>
            <a:off x="6903720" y="1508760"/>
            <a:ext cx="4800600" cy="4526280"/>
          </a:xfrm>
          <a:prstGeom prst="rect">
            <a:avLst/>
          </a:prstGeom>
          <a:solidFill>
            <a:srgbClr val="1430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7223760" y="178308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THE FOUNDATION</a:t>
            </a: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7223760" y="2130552"/>
            <a:ext cx="4160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olist_marts star schema</a:t>
            </a:r>
            <a:endParaRPr/>
          </a:p>
        </p:txBody>
      </p:sp>
      <p:sp>
        <p:nvSpPr>
          <p:cNvPr id="136" name="Google Shape;136;p3"/>
          <p:cNvSpPr txBox="1"/>
          <p:nvPr/>
        </p:nvSpPr>
        <p:spPr>
          <a:xfrm>
            <a:off x="7223760" y="2788920"/>
            <a:ext cx="4160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FD3E6"/>
                </a:solidFill>
                <a:latin typeface="Calibri"/>
                <a:ea typeface="Calibri"/>
                <a:cs typeface="Calibri"/>
                <a:sym typeface="Calibri"/>
              </a:rPr>
              <a:t>4 fact tables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7223760" y="3099816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7EEF4"/>
                </a:solidFill>
                <a:latin typeface="Calibri"/>
                <a:ea typeface="Calibri"/>
                <a:cs typeface="Calibri"/>
                <a:sym typeface="Calibri"/>
              </a:rPr>
              <a:t>orders, items, payments, reviews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7223760" y="3593592"/>
            <a:ext cx="4160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FD3E6"/>
                </a:solidFill>
                <a:latin typeface="Calibri"/>
                <a:ea typeface="Calibri"/>
                <a:cs typeface="Calibri"/>
                <a:sym typeface="Calibri"/>
              </a:rPr>
              <a:t>4 shared dimensions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7223760" y="3904488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7EEF4"/>
                </a:solidFill>
                <a:latin typeface="Calibri"/>
                <a:ea typeface="Calibri"/>
                <a:cs typeface="Calibri"/>
                <a:sym typeface="Calibri"/>
              </a:rPr>
              <a:t>customer, product, seller, date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7223760" y="4398264"/>
            <a:ext cx="4160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FD3E6"/>
                </a:solidFill>
                <a:latin typeface="Calibri"/>
                <a:ea typeface="Calibri"/>
                <a:cs typeface="Calibri"/>
                <a:sym typeface="Calibri"/>
              </a:rPr>
              <a:t>Grain verified</a:t>
            </a:r>
            <a:endParaRPr/>
          </a:p>
        </p:txBody>
      </p:sp>
      <p:sp>
        <p:nvSpPr>
          <p:cNvPr id="141" name="Google Shape;141;p3"/>
          <p:cNvSpPr txBox="1"/>
          <p:nvPr/>
        </p:nvSpPr>
        <p:spPr>
          <a:xfrm>
            <a:off x="7223760" y="4709160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7EEF4"/>
                </a:solidFill>
                <a:latin typeface="Calibri"/>
                <a:ea typeface="Calibri"/>
                <a:cs typeface="Calibri"/>
                <a:sym typeface="Calibri"/>
              </a:rPr>
              <a:t>fact row counts match raw, exactly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7223760" y="5202936"/>
            <a:ext cx="4160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FD3E6"/>
                </a:solidFill>
                <a:latin typeface="Calibri"/>
                <a:ea typeface="Calibri"/>
                <a:cs typeface="Calibri"/>
                <a:sym typeface="Calibri"/>
              </a:rPr>
              <a:t>Query surface</a:t>
            </a:r>
            <a:endParaRPr/>
          </a:p>
        </p:txBody>
      </p:sp>
      <p:sp>
        <p:nvSpPr>
          <p:cNvPr id="143" name="Google Shape;143;p3"/>
          <p:cNvSpPr txBox="1"/>
          <p:nvPr/>
        </p:nvSpPr>
        <p:spPr>
          <a:xfrm>
            <a:off x="7223760" y="5513832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7EEF4"/>
                </a:solidFill>
                <a:latin typeface="Calibri"/>
                <a:ea typeface="Calibri"/>
                <a:cs typeface="Calibri"/>
                <a:sym typeface="Calibri"/>
              </a:rPr>
              <a:t>BigQuery, aggregated pulls only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502920" y="651967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Olist marketplace analysis  ·  olist_marts (BigQuery)  ·  99,441 orders, Sep 2016 – Oct 2018</a:t>
            </a: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"/>
          <p:cNvSpPr txBox="1"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EXECUTIVE SUMMARY  ·  3 OF 3</a:t>
            </a:r>
            <a:endParaRPr/>
          </a:p>
        </p:txBody>
      </p:sp>
      <p:sp>
        <p:nvSpPr>
          <p:cNvPr id="151" name="Google Shape;151;p4"/>
          <p:cNvSpPr txBox="1"/>
          <p:nvPr/>
        </p:nvSpPr>
        <p:spPr>
          <a:xfrm>
            <a:off x="484632" y="548640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304D"/>
                </a:solidFill>
                <a:latin typeface="Calibri"/>
                <a:ea typeface="Calibri"/>
                <a:cs typeface="Calibri"/>
                <a:sym typeface="Calibri"/>
              </a:rPr>
              <a:t>What We Found — And Why It Matters</a:t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502920" y="1207008"/>
            <a:ext cx="960120" cy="50800"/>
          </a:xfrm>
          <a:prstGeom prst="rect">
            <a:avLst/>
          </a:prstGeom>
          <a:solidFill>
            <a:srgbClr val="E079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502920" y="1508760"/>
            <a:ext cx="3529584" cy="3246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502920" y="1508760"/>
            <a:ext cx="3529584" cy="566928"/>
          </a:xfrm>
          <a:prstGeom prst="rect">
            <a:avLst/>
          </a:prstGeom>
          <a:solidFill>
            <a:srgbClr val="1430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704088" y="1508760"/>
            <a:ext cx="31272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Delivery → Reviews</a:t>
            </a:r>
            <a:endParaRPr/>
          </a:p>
        </p:txBody>
      </p:sp>
      <p:sp>
        <p:nvSpPr>
          <p:cNvPr id="156" name="Google Shape;156;p4"/>
          <p:cNvSpPr txBox="1"/>
          <p:nvPr/>
        </p:nvSpPr>
        <p:spPr>
          <a:xfrm>
            <a:off x="758952" y="2286000"/>
            <a:ext cx="301752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A delivery only 4–7 days late already turns 68% of buyers into dissatisfied customers (1–2★). R$1.16M of revenue (8.8%) rides on late orders.</a:t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4251960" y="1508760"/>
            <a:ext cx="3529584" cy="3246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4251960" y="1508760"/>
            <a:ext cx="3529584" cy="566928"/>
          </a:xfrm>
          <a:prstGeom prst="rect">
            <a:avLst/>
          </a:prstGeom>
          <a:solidFill>
            <a:srgbClr val="1430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4453128" y="1508760"/>
            <a:ext cx="31272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Retention</a:t>
            </a:r>
            <a:endParaRPr/>
          </a:p>
        </p:txBody>
      </p:sp>
      <p:sp>
        <p:nvSpPr>
          <p:cNvPr id="160" name="Google Shape;160;p4"/>
          <p:cNvSpPr txBox="1"/>
          <p:nvPr/>
        </p:nvSpPr>
        <p:spPr>
          <a:xfrm>
            <a:off x="4507992" y="2286000"/>
            <a:ext cx="301752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96.9% of customers order once. Repeat buyers are worth 1.8× more — the clearest margin lever the data shows.</a:t>
            </a:r>
            <a:endParaRPr/>
          </a:p>
        </p:txBody>
      </p:sp>
      <p:sp>
        <p:nvSpPr>
          <p:cNvPr id="161" name="Google Shape;161;p4"/>
          <p:cNvSpPr/>
          <p:nvPr/>
        </p:nvSpPr>
        <p:spPr>
          <a:xfrm>
            <a:off x="8001000" y="1508760"/>
            <a:ext cx="3529584" cy="3246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8001000" y="1508760"/>
            <a:ext cx="3529584" cy="566928"/>
          </a:xfrm>
          <a:prstGeom prst="rect">
            <a:avLst/>
          </a:prstGeom>
          <a:solidFill>
            <a:srgbClr val="1430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8202168" y="1508760"/>
            <a:ext cx="31272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Geography</a:t>
            </a:r>
            <a:endParaRPr/>
          </a:p>
        </p:txBody>
      </p:sp>
      <p:sp>
        <p:nvSpPr>
          <p:cNvPr id="164" name="Google Shape;164;p4"/>
          <p:cNvSpPr txBox="1"/>
          <p:nvPr/>
        </p:nvSpPr>
        <p:spPr>
          <a:xfrm>
            <a:off x="8257032" y="2286000"/>
            <a:ext cx="301752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3 states (SP, RJ, MG) generate 63% of all revenue. Growth spend should defend that core and target the long tail by region, not by city.</a:t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502920" y="5029200"/>
            <a:ext cx="11183112" cy="1051560"/>
          </a:xfrm>
          <a:prstGeom prst="rect">
            <a:avLst/>
          </a:prstGeom>
          <a:solidFill>
            <a:srgbClr val="F7F8FA"/>
          </a:solidFill>
          <a:ln cap="flat" cmpd="sng" w="15875">
            <a:solidFill>
              <a:srgbClr val="E079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 txBox="1"/>
          <p:nvPr/>
        </p:nvSpPr>
        <p:spPr>
          <a:xfrm>
            <a:off x="777240" y="5193792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4304D"/>
                </a:solidFill>
                <a:latin typeface="Calibri"/>
                <a:ea typeface="Calibri"/>
                <a:cs typeface="Calibri"/>
                <a:sym typeface="Calibri"/>
              </a:rPr>
              <a:t>Bottom line: the three problems share one fix pattern — fix what's measurable and controllable (delivery ops, first-30-day retention, regional targeting) and the business follows.</a:t>
            </a: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502920" y="651967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Olist marketplace analysis  ·  olist_marts (BigQuery)  ·  99,441 orders, Sep 2016 – Oct 2018</a:t>
            </a:r>
            <a:endParaRPr/>
          </a:p>
        </p:txBody>
      </p:sp>
      <p:sp>
        <p:nvSpPr>
          <p:cNvPr id="168" name="Google Shape;168;p4"/>
          <p:cNvSpPr txBox="1"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"/>
          <p:cNvSpPr txBox="1"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BUSINESS VALUE  ·  OVERVIEW</a:t>
            </a:r>
            <a:endParaRPr/>
          </a:p>
        </p:txBody>
      </p:sp>
      <p:sp>
        <p:nvSpPr>
          <p:cNvPr id="174" name="Google Shape;174;p5"/>
          <p:cNvSpPr txBox="1"/>
          <p:nvPr/>
        </p:nvSpPr>
        <p:spPr>
          <a:xfrm>
            <a:off x="484632" y="548640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304D"/>
                </a:solidFill>
                <a:latin typeface="Calibri"/>
                <a:ea typeface="Calibri"/>
                <a:cs typeface="Calibri"/>
                <a:sym typeface="Calibri"/>
              </a:rPr>
              <a:t>Where This Analysis Creates Value</a:t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502920" y="1207008"/>
            <a:ext cx="960120" cy="50800"/>
          </a:xfrm>
          <a:prstGeom prst="rect">
            <a:avLst/>
          </a:prstGeom>
          <a:solidFill>
            <a:srgbClr val="E079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Four levers, each traced back to a specific number in the data:</a:t>
            </a:r>
            <a:endParaRPr/>
          </a:p>
        </p:txBody>
      </p:sp>
      <p:graphicFrame>
        <p:nvGraphicFramePr>
          <p:cNvPr id="177" name="Google Shape;177;p5"/>
          <p:cNvGraphicFramePr/>
          <p:nvPr/>
        </p:nvGraphicFramePr>
        <p:xfrm>
          <a:off x="50292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{B47992FD-8D1F-4616-AC05-1968F3831AED}</a:tableStyleId>
              </a:tblPr>
              <a:tblGrid>
                <a:gridCol w="2057400"/>
                <a:gridCol w="3611875"/>
                <a:gridCol w="2331725"/>
                <a:gridCol w="318210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 driver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we found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Current value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How to capture it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14304D"/>
                    </a:solidFill>
                  </a:tcPr>
                </a:tc>
              </a:tr>
              <a:tr h="1079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Delivery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reliability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8% of delivered orders are late; 4–7 days late flips 68% of buyers to dissatisfied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E079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R$1.16M revenue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E079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exposed on late orders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recovery + peak-season carrier capacity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FFFFF"/>
                    </a:solidFill>
                  </a:tcPr>
                </a:tc>
              </a:tr>
              <a:tr h="1079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retention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96.9% of customers buy once; repeat buyers are worth 1.8×+ more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E079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3.1% repeat rate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E079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today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Lifecycle nudge (day 20–25), cross-sell, win-back ~68K lapsed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7F8FA"/>
                    </a:solidFill>
                  </a:tcPr>
                </a:tc>
              </a:tr>
              <a:tr h="1079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Geographic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focus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 / RJ / MG = 63% of revenue; long tail = 4,200+ small cities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E079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63% revenue in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E079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states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Defend the 3-state core; target the tail by region, not city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FFFFF"/>
                    </a:solidFill>
                  </a:tcPr>
                </a:tc>
              </a:tr>
              <a:tr h="1079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foundation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Star schema grain-checked vs. raw source; zero mismatches found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E079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79 automated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E079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tests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Standardize reporting on the olist_marts layer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78" name="Google Shape;178;p5"/>
          <p:cNvSpPr txBox="1"/>
          <p:nvPr/>
        </p:nvSpPr>
        <p:spPr>
          <a:xfrm>
            <a:off x="502920" y="651967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Olist marketplace analysis  ·  olist_marts (BigQuery)  ·  99,441 orders, Sep 2016 – Oct 2018</a:t>
            </a:r>
            <a:endParaRPr/>
          </a:p>
        </p:txBody>
      </p:sp>
      <p:sp>
        <p:nvSpPr>
          <p:cNvPr id="179" name="Google Shape;179;p5"/>
          <p:cNvSpPr txBox="1"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"/>
          <p:cNvSpPr txBox="1"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BUSINESS VALUE  ·  DRIVER 1 OF 3</a:t>
            </a:r>
            <a:endParaRPr/>
          </a:p>
        </p:txBody>
      </p:sp>
      <p:sp>
        <p:nvSpPr>
          <p:cNvPr id="185" name="Google Shape;185;p6"/>
          <p:cNvSpPr txBox="1"/>
          <p:nvPr/>
        </p:nvSpPr>
        <p:spPr>
          <a:xfrm>
            <a:off x="484632" y="548640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304D"/>
                </a:solidFill>
                <a:latin typeface="Calibri"/>
                <a:ea typeface="Calibri"/>
                <a:cs typeface="Calibri"/>
                <a:sym typeface="Calibri"/>
              </a:rPr>
              <a:t>Delivery Reliability Protects Reviews &amp; Revenue</a:t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502920" y="1207008"/>
            <a:ext cx="960120" cy="50800"/>
          </a:xfrm>
          <a:prstGeom prst="rect">
            <a:avLst/>
          </a:prstGeom>
          <a:solidFill>
            <a:srgbClr val="E079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_delivery_reviews.png" id="187" name="Google Shape;18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226999"/>
            <a:ext cx="6263640" cy="299836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6"/>
          <p:cNvSpPr txBox="1"/>
          <p:nvPr/>
        </p:nvSpPr>
        <p:spPr>
          <a:xfrm>
            <a:off x="502920" y="5870448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Avg. review score &amp; dissatisfied-customer rate, by how late the delivery ran</a:t>
            </a:r>
            <a:endParaRPr/>
          </a:p>
        </p:txBody>
      </p:sp>
      <p:sp>
        <p:nvSpPr>
          <p:cNvPr id="189" name="Google Shape;189;p6"/>
          <p:cNvSpPr txBox="1"/>
          <p:nvPr/>
        </p:nvSpPr>
        <p:spPr>
          <a:xfrm>
            <a:off x="6903720" y="1508760"/>
            <a:ext cx="4800600" cy="470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Reviews collapse fast. </a:t>
            </a:r>
            <a:r>
              <a:rPr b="0" i="0" lang="en-US" sz="1600" u="none" cap="none" strike="noStrike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4–7 days late is enough to flip 68% of buyers into dissatisfied customers (1–2★); beyond ~8 days the score simply floors near 1.7 — no worse.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Revenue is already exposed. </a:t>
            </a:r>
            <a:r>
              <a:rPr b="0" i="0" lang="en-US" sz="1600" u="none" cap="none" strike="noStrike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R$1.16M of realized product revenue (8.8%) passed through a late delivery.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It's a peak-season problem. </a:t>
            </a:r>
            <a:r>
              <a:rPr b="0" i="0" lang="en-US" sz="1600" u="none" cap="none" strike="noStrike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Baseline late rate is 4–6%; it spikes to 14–21% in Nov, Feb and Mar — a capacity issue, not a random one.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The fix is operational. </a:t>
            </a:r>
            <a:r>
              <a:rPr b="0" i="0" lang="en-US" sz="1600" u="none" cap="none" strike="noStrike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Padded delivery promises and pre-booked carrier capacity at peak, plus a service-recovery credit within 24–48h of any late delivery.</a:t>
            </a:r>
            <a:endParaRPr/>
          </a:p>
        </p:txBody>
      </p:sp>
      <p:sp>
        <p:nvSpPr>
          <p:cNvPr id="190" name="Google Shape;190;p6"/>
          <p:cNvSpPr txBox="1"/>
          <p:nvPr/>
        </p:nvSpPr>
        <p:spPr>
          <a:xfrm>
            <a:off x="502920" y="651967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Olist marketplace analysis  ·  olist_marts (BigQuery)  ·  99,441 orders, Sep 2016 – Oct 2018</a:t>
            </a:r>
            <a:endParaRPr/>
          </a:p>
        </p:txBody>
      </p:sp>
      <p:sp>
        <p:nvSpPr>
          <p:cNvPr id="191" name="Google Shape;191;p6"/>
          <p:cNvSpPr txBox="1"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 txBox="1"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BUSINESS VALUE  ·  DRIVER 2 OF 3</a:t>
            </a:r>
            <a:endParaRPr/>
          </a:p>
        </p:txBody>
      </p:sp>
      <p:sp>
        <p:nvSpPr>
          <p:cNvPr id="197" name="Google Shape;197;p7"/>
          <p:cNvSpPr txBox="1"/>
          <p:nvPr/>
        </p:nvSpPr>
        <p:spPr>
          <a:xfrm>
            <a:off x="484632" y="548640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304D"/>
                </a:solidFill>
                <a:latin typeface="Calibri"/>
                <a:ea typeface="Calibri"/>
                <a:cs typeface="Calibri"/>
                <a:sym typeface="Calibri"/>
              </a:rPr>
              <a:t>Turning One-Time Buyers Into Repeat Customers</a:t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502920" y="1207008"/>
            <a:ext cx="960120" cy="50800"/>
          </a:xfrm>
          <a:prstGeom prst="rect">
            <a:avLst/>
          </a:prstGeom>
          <a:solidFill>
            <a:srgbClr val="E079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_retention_segments.png" id="199" name="Google Shape;19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226999"/>
            <a:ext cx="6263640" cy="2998361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7"/>
          <p:cNvSpPr txBox="1"/>
          <p:nvPr/>
        </p:nvSpPr>
        <p:spPr>
          <a:xfrm>
            <a:off x="502920" y="5870448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Share of customers vs. share of revenue, by number of orders placed</a:t>
            </a:r>
            <a:endParaRPr/>
          </a:p>
        </p:txBody>
      </p:sp>
      <p:sp>
        <p:nvSpPr>
          <p:cNvPr id="201" name="Google Shape;201;p7"/>
          <p:cNvSpPr txBox="1"/>
          <p:nvPr/>
        </p:nvSpPr>
        <p:spPr>
          <a:xfrm>
            <a:off x="6903720" y="1508760"/>
            <a:ext cx="4800600" cy="470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96.9% of customers order once. </a:t>
            </a:r>
            <a:r>
              <a:rPr b="0" i="0" lang="en-US" sz="1600" u="none" cap="none" strike="noStrike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Only 3.1% place a second order — yet a repeat buyer is worth 1.8×+ more (R$288 vs R$159).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The window is the first month. </a:t>
            </a:r>
            <a:r>
              <a:rPr b="0" i="0" lang="en-US" sz="1600" u="none" cap="none" strike="noStrike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Median gap to a 2nd order is 28 days; 51% of all repeats happen within 30 days.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Category predicts loyalty. </a:t>
            </a:r>
            <a:r>
              <a:rPr b="0" i="0" lang="en-US" sz="1600" u="none" cap="none" strike="noStrike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Home appliances (8.9%) and fashion accessories (6.5%) repeat; electronics (1.8%) and consoles (1.9%) are one-and-done.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The fix is low-cost. </a:t>
            </a:r>
            <a:r>
              <a:rPr b="0" i="0" lang="en-US" sz="1600" u="none" cap="none" strike="noStrike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A day 20–25 lifecycle nudge, category cross-sell, and a win-back offer to the ~68K-customer lapsed pool — all through channels the platform already owns.</a:t>
            </a:r>
            <a:endParaRPr/>
          </a:p>
        </p:txBody>
      </p:sp>
      <p:sp>
        <p:nvSpPr>
          <p:cNvPr id="202" name="Google Shape;202;p7"/>
          <p:cNvSpPr txBox="1"/>
          <p:nvPr/>
        </p:nvSpPr>
        <p:spPr>
          <a:xfrm>
            <a:off x="502920" y="651967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Olist marketplace analysis  ·  olist_marts (BigQuery)  ·  99,441 orders, Sep 2016 – Oct 2018</a:t>
            </a:r>
            <a:endParaRPr/>
          </a:p>
        </p:txBody>
      </p:sp>
      <p:sp>
        <p:nvSpPr>
          <p:cNvPr id="203" name="Google Shape;203;p7"/>
          <p:cNvSpPr txBox="1"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"/>
          <p:cNvSpPr txBox="1"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BUSINESS VALUE  ·  DRIVER 3 OF 3</a:t>
            </a:r>
            <a:endParaRPr/>
          </a:p>
        </p:txBody>
      </p:sp>
      <p:sp>
        <p:nvSpPr>
          <p:cNvPr id="209" name="Google Shape;209;p8"/>
          <p:cNvSpPr txBox="1"/>
          <p:nvPr/>
        </p:nvSpPr>
        <p:spPr>
          <a:xfrm>
            <a:off x="484632" y="548640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4304D"/>
                </a:solidFill>
                <a:latin typeface="Calibri"/>
                <a:ea typeface="Calibri"/>
                <a:cs typeface="Calibri"/>
                <a:sym typeface="Calibri"/>
              </a:rPr>
              <a:t>Revenue Is Concentrated — Growth Spend Should Follow</a:t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502920" y="1207008"/>
            <a:ext cx="960120" cy="50800"/>
          </a:xfrm>
          <a:prstGeom prst="rect">
            <a:avLst/>
          </a:prstGeom>
          <a:solidFill>
            <a:srgbClr val="E079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_geo_concentration.png" id="211" name="Google Shape;21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226999"/>
            <a:ext cx="6263640" cy="2998361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8"/>
          <p:cNvSpPr txBox="1"/>
          <p:nvPr/>
        </p:nvSpPr>
        <p:spPr>
          <a:xfrm>
            <a:off x="502920" y="5870448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% of total revenue and cumulative share, top 7 states</a:t>
            </a:r>
            <a:endParaRPr/>
          </a:p>
        </p:txBody>
      </p:sp>
      <p:sp>
        <p:nvSpPr>
          <p:cNvPr id="213" name="Google Shape;213;p8"/>
          <p:cNvSpPr txBox="1"/>
          <p:nvPr/>
        </p:nvSpPr>
        <p:spPr>
          <a:xfrm>
            <a:off x="6903720" y="1508760"/>
            <a:ext cx="4800600" cy="470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Three states, most of the revenue. </a:t>
            </a:r>
            <a:r>
              <a:rPr b="0" i="0" lang="en-US" sz="1600" u="none" cap="none" strike="noStrike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São Paulo alone is 38%; SP + RJ + MG together are 63%; the top 7 states reach 82%.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The long tail is real but thin. </a:t>
            </a:r>
            <a:r>
              <a:rPr b="0" i="0" lang="en-US" sz="1600" u="none" cap="none" strike="noStrike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~4,200 smaller cities share the remaining ~39%; 2,905 of them have ≤5 orders each — only ~7% of revenue combined.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Distance changes behaviour, not loyalty. </a:t>
            </a:r>
            <a:r>
              <a:rPr b="0" i="0" lang="en-US" sz="1600" u="none" cap="none" strike="noStrike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Northeast customers (CE, PE, BA) order less often but bigger — avg. order value R$150–171 vs R$126 in SP.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The fix is targeting, not spend. </a:t>
            </a:r>
            <a:r>
              <a:rPr b="0" i="0" lang="en-US" sz="1600" u="none" cap="none" strike="noStrike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Defend the SP/RJ/MG core on service levels, and grow the tail at region level instead of chasing 4,200 individual cities.</a:t>
            </a:r>
            <a:endParaRPr/>
          </a:p>
        </p:txBody>
      </p:sp>
      <p:sp>
        <p:nvSpPr>
          <p:cNvPr id="214" name="Google Shape;214;p8"/>
          <p:cNvSpPr txBox="1"/>
          <p:nvPr/>
        </p:nvSpPr>
        <p:spPr>
          <a:xfrm>
            <a:off x="502920" y="651967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Olist marketplace analysis  ·  olist_marts (BigQuery)  ·  99,441 orders, Sep 2016 – Oct 2018</a:t>
            </a:r>
            <a:endParaRPr/>
          </a:p>
        </p:txBody>
      </p:sp>
      <p:sp>
        <p:nvSpPr>
          <p:cNvPr id="215" name="Google Shape;215;p8"/>
          <p:cNvSpPr txBox="1"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"/>
          <p:cNvSpPr txBox="1"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BUSINESS VALUE  ·  DRIVER 3 OF 3</a:t>
            </a:r>
            <a:endParaRPr/>
          </a:p>
        </p:txBody>
      </p:sp>
      <p:sp>
        <p:nvSpPr>
          <p:cNvPr id="221" name="Google Shape;221;p9"/>
          <p:cNvSpPr txBox="1"/>
          <p:nvPr/>
        </p:nvSpPr>
        <p:spPr>
          <a:xfrm>
            <a:off x="484632" y="548640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4304D"/>
                </a:solidFill>
                <a:latin typeface="Calibri"/>
                <a:ea typeface="Calibri"/>
                <a:cs typeface="Calibri"/>
                <a:sym typeface="Calibri"/>
              </a:rPr>
              <a:t>Zooming Out: Revenue by Region</a:t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502920" y="1207008"/>
            <a:ext cx="960120" cy="50800"/>
          </a:xfrm>
          <a:prstGeom prst="rect">
            <a:avLst/>
          </a:prstGeom>
          <a:solidFill>
            <a:srgbClr val="E079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 txBox="1"/>
          <p:nvPr/>
        </p:nvSpPr>
        <p:spPr>
          <a:xfrm>
            <a:off x="502920" y="1417320"/>
            <a:ext cx="1115568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Same demand geography as the state view, rolled up to the 5 official IBGE regions (mapping on the next slide) — pandas group-by on the state-level pull, zero extra BigQuery scan.</a:t>
            </a:r>
            <a:endParaRPr/>
          </a:p>
        </p:txBody>
      </p:sp>
      <p:graphicFrame>
        <p:nvGraphicFramePr>
          <p:cNvPr id="224" name="Google Shape;224;p9"/>
          <p:cNvGraphicFramePr/>
          <p:nvPr/>
        </p:nvGraphicFramePr>
        <p:xfrm>
          <a:off x="502920" y="195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{B47992FD-8D1F-4616-AC05-1968F3831AED}</a:tableStyleId>
              </a:tblPr>
              <a:tblGrid>
                <a:gridCol w="1900000"/>
                <a:gridCol w="1650000"/>
                <a:gridCol w="1650000"/>
                <a:gridCol w="1650000"/>
                <a:gridCol w="2100000"/>
              </a:tblGrid>
              <a:tr h="43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Region</a:t>
                      </a:r>
                      <a:endParaRPr/>
                    </a:p>
                  </a:txBody>
                  <a:tcPr marT="45725" marB="45725" marR="128025" marL="128025" anchor="ctr"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Revenue (R$)</a:t>
                      </a:r>
                      <a:endParaRPr/>
                    </a:p>
                  </a:txBody>
                  <a:tcPr marT="45725" marB="45725" marR="128025" marL="128025" anchor="ctr"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of revenue</a:t>
                      </a:r>
                      <a:endParaRPr/>
                    </a:p>
                  </a:txBody>
                  <a:tcPr marT="45725" marB="45725" marR="128025" marL="128025" anchor="ctr"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Cumulative %</a:t>
                      </a:r>
                      <a:endParaRPr/>
                    </a:p>
                  </a:txBody>
                  <a:tcPr marT="45725" marB="45725" marR="128025" marL="128025" anchor="ctr"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Avg. order value (R$)</a:t>
                      </a:r>
                      <a:endParaRPr/>
                    </a:p>
                  </a:txBody>
                  <a:tcPr marT="45725" marB="45725" marR="128025" marL="128025" anchor="ctr">
                    <a:solidFill>
                      <a:srgbClr val="14304D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Southeast</a:t>
                      </a:r>
                      <a:endParaRPr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8.82M</a:t>
                      </a:r>
                      <a:endParaRPr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65.4%</a:t>
                      </a:r>
                      <a:endParaRPr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65.4%</a:t>
                      </a:r>
                      <a:endParaRPr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131.04</a:t>
                      </a:r>
                      <a:endParaRPr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South</a:t>
                      </a:r>
                      <a:endParaRPr/>
                    </a:p>
                  </a:txBody>
                  <a:tcPr marT="45725" marB="4572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1.94M</a:t>
                      </a:r>
                      <a:endParaRPr/>
                    </a:p>
                  </a:txBody>
                  <a:tcPr marT="45725" marB="4572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14.4%</a:t>
                      </a:r>
                      <a:endParaRPr/>
                    </a:p>
                  </a:txBody>
                  <a:tcPr marT="45725" marB="4572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79.7%</a:t>
                      </a:r>
                      <a:endParaRPr/>
                    </a:p>
                  </a:txBody>
                  <a:tcPr marT="45725" marB="4572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138.38</a:t>
                      </a:r>
                      <a:endParaRPr/>
                    </a:p>
                  </a:txBody>
                  <a:tcPr marT="45725" marB="45725" marR="128025" marL="128025" anchor="ctr">
                    <a:solidFill>
                      <a:srgbClr val="F7F8FA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Northeast</a:t>
                      </a:r>
                      <a:endParaRPr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1.54M</a:t>
                      </a:r>
                      <a:endParaRPr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11.4%</a:t>
                      </a:r>
                      <a:endParaRPr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91.1%</a:t>
                      </a:r>
                      <a:endParaRPr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165.30</a:t>
                      </a:r>
                      <a:endParaRPr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Central-West</a:t>
                      </a:r>
                      <a:endParaRPr/>
                    </a:p>
                  </a:txBody>
                  <a:tcPr marT="45725" marB="4572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0.86M</a:t>
                      </a:r>
                      <a:endParaRPr/>
                    </a:p>
                  </a:txBody>
                  <a:tcPr marT="45725" marB="4572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6.4%</a:t>
                      </a:r>
                      <a:endParaRPr/>
                    </a:p>
                  </a:txBody>
                  <a:tcPr marT="45725" marB="4572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97.5%</a:t>
                      </a:r>
                      <a:endParaRPr/>
                    </a:p>
                  </a:txBody>
                  <a:tcPr marT="45725" marB="4572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150.49</a:t>
                      </a:r>
                      <a:endParaRPr/>
                    </a:p>
                  </a:txBody>
                  <a:tcPr marT="45725" marB="45725" marR="128025" marL="128025" anchor="ctr">
                    <a:solidFill>
                      <a:srgbClr val="F7F8FA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North</a:t>
                      </a:r>
                      <a:endParaRPr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0.33M</a:t>
                      </a:r>
                      <a:endParaRPr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2.5%</a:t>
                      </a:r>
                      <a:endParaRPr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100.0%</a:t>
                      </a:r>
                      <a:endParaRPr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181.98</a:t>
                      </a:r>
                      <a:endParaRPr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5" name="Google Shape;225;p9"/>
          <p:cNvSpPr txBox="1"/>
          <p:nvPr/>
        </p:nvSpPr>
        <p:spPr>
          <a:xfrm>
            <a:off x="502920" y="4550000"/>
            <a:ext cx="11155680" cy="1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The Southeast alone is 65.4% of revenue </a:t>
            </a:r>
            <a:r>
              <a:rPr b="0" i="0" lang="en-US" sz="1600" u="none" cap="none" strike="noStrike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(SP, RJ, MG, ES) — slightly more than the top-3-states view (63%), because it also folds in Espirito Santo.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Top 2 regions = 80% of revenue. </a:t>
            </a:r>
            <a:r>
              <a:rPr b="0" i="0" lang="en-US" sz="1600" u="none" cap="none" strike="noStrike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Southeast + South together leave only 20% spread across the Northeast, Central-West and North.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AOV rises as revenue share falls: </a:t>
            </a:r>
            <a:r>
              <a:rPr b="0" i="0" lang="en-US" sz="1600" u="none" cap="none" strike="noStrike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R$131 in the Southeast core vs. R$182 in the North — the same far-customers-order-bigger pattern seen at state and city level.</a:t>
            </a:r>
            <a:endParaRPr/>
          </a:p>
        </p:txBody>
      </p:sp>
      <p:sp>
        <p:nvSpPr>
          <p:cNvPr id="226" name="Google Shape;226;p9"/>
          <p:cNvSpPr txBox="1"/>
          <p:nvPr/>
        </p:nvSpPr>
        <p:spPr>
          <a:xfrm>
            <a:off x="502920" y="651967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Olist marketplace analysis  ·  olist_marts (BigQuery)  ·  99,441 orders, Sep 2016 – Oct 2018</a:t>
            </a:r>
            <a:endParaRPr/>
          </a:p>
        </p:txBody>
      </p:sp>
      <p:sp>
        <p:nvSpPr>
          <p:cNvPr id="227" name="Google Shape;227;p9"/>
          <p:cNvSpPr txBox="1"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"/>
          <p:cNvSpPr txBox="1"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BUSINESS VALUE  ·  APPENDIX</a:t>
            </a:r>
            <a:endParaRPr/>
          </a:p>
        </p:txBody>
      </p:sp>
      <p:sp>
        <p:nvSpPr>
          <p:cNvPr id="233" name="Google Shape;233;p10"/>
          <p:cNvSpPr txBox="1"/>
          <p:nvPr/>
        </p:nvSpPr>
        <p:spPr>
          <a:xfrm>
            <a:off x="484632" y="548640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4304D"/>
                </a:solidFill>
                <a:latin typeface="Calibri"/>
                <a:ea typeface="Calibri"/>
                <a:cs typeface="Calibri"/>
                <a:sym typeface="Calibri"/>
              </a:rPr>
              <a:t>Brazilian States, by Region</a:t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502920" y="1207008"/>
            <a:ext cx="960120" cy="50800"/>
          </a:xfrm>
          <a:prstGeom prst="rect">
            <a:avLst/>
          </a:prstGeom>
          <a:solidFill>
            <a:srgbClr val="E079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All 27 Brazilian states (26 states plus the Federal District), mapped to their official IBGE region — the same regions used in Section 3's Northeast-vs-core comparisons.</a:t>
            </a:r>
            <a:endParaRPr/>
          </a:p>
        </p:txBody>
      </p:sp>
      <p:graphicFrame>
        <p:nvGraphicFramePr>
          <p:cNvPr id="236" name="Google Shape;236;p10"/>
          <p:cNvGraphicFramePr/>
          <p:nvPr/>
        </p:nvGraphicFramePr>
        <p:xfrm>
          <a:off x="502920" y="207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{B47992FD-8D1F-4616-AC05-1968F3831AED}</a:tableStyleId>
              </a:tblPr>
              <a:tblGrid>
                <a:gridCol w="760000"/>
                <a:gridCol w="2680000"/>
                <a:gridCol w="2050000"/>
              </a:tblGrid>
              <a:tr h="304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 name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Region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14304D"/>
                    </a:solidFill>
                  </a:tcPr>
                </a:tc>
              </a:tr>
              <a:tr h="304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Acre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North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</a:tr>
              <a:tr h="304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Amapá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North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7F8FA"/>
                    </a:solidFill>
                  </a:tcPr>
                </a:tc>
              </a:tr>
              <a:tr h="304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Amazonas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North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</a:tr>
              <a:tr h="304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Pará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North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7F8FA"/>
                    </a:solidFill>
                  </a:tcPr>
                </a:tc>
              </a:tr>
              <a:tr h="304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Rondônia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North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</a:tr>
              <a:tr h="304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RR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Roraima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North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7F8FA"/>
                    </a:solidFill>
                  </a:tcPr>
                </a:tc>
              </a:tr>
              <a:tr h="304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Tocantins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North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</a:tr>
              <a:tr h="304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Alagoas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Northeast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7F8FA"/>
                    </a:solidFill>
                  </a:tcPr>
                </a:tc>
              </a:tr>
              <a:tr h="304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Bahia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Northeast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</a:tr>
              <a:tr h="304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Ceará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Northeast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7F8FA"/>
                    </a:solidFill>
                  </a:tcPr>
                </a:tc>
              </a:tr>
              <a:tr h="304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Maranhão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Northeast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</a:tr>
              <a:tr h="304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PB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Paraíba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Northeast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7F8FA"/>
                    </a:solidFill>
                  </a:tcPr>
                </a:tc>
              </a:tr>
              <a:tr h="304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Pernambuco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Northeast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Google Shape;237;p10"/>
          <p:cNvGraphicFramePr/>
          <p:nvPr/>
        </p:nvGraphicFramePr>
        <p:xfrm>
          <a:off x="6232920" y="207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{B47992FD-8D1F-4616-AC05-1968F3831AED}</a:tableStyleId>
              </a:tblPr>
              <a:tblGrid>
                <a:gridCol w="760000"/>
                <a:gridCol w="2680000"/>
                <a:gridCol w="2050000"/>
              </a:tblGrid>
              <a:tr h="28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 name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Region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14304D"/>
                    </a:solidFill>
                  </a:tcPr>
                </a:tc>
              </a:tr>
              <a:tr h="28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Piauí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Northeast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</a:tr>
              <a:tr h="28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RN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Rio Grande do Norte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Northeast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7F8FA"/>
                    </a:solidFill>
                  </a:tcPr>
                </a:tc>
              </a:tr>
              <a:tr h="28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Sergipe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Northeast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</a:tr>
              <a:tr h="28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DF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Distrito Federal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Central-West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7F8FA"/>
                    </a:solidFill>
                  </a:tcPr>
                </a:tc>
              </a:tr>
              <a:tr h="28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Goiás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Central-West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</a:tr>
              <a:tr h="28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MT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Mato Grosso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Central-West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7F8FA"/>
                    </a:solidFill>
                  </a:tcPr>
                </a:tc>
              </a:tr>
              <a:tr h="28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MS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Mato Grosso do Sul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Central-West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</a:tr>
              <a:tr h="28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Espírito Santo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Southeast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7F8FA"/>
                    </a:solidFill>
                  </a:tcPr>
                </a:tc>
              </a:tr>
              <a:tr h="28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MG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Minas Gerais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Southeast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</a:tr>
              <a:tr h="28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RJ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Rio de Janeiro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Southeast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7F8FA"/>
                    </a:solidFill>
                  </a:tcPr>
                </a:tc>
              </a:tr>
              <a:tr h="28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São Paulo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Southeast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</a:tr>
              <a:tr h="28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Paraná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South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7F8FA"/>
                    </a:solidFill>
                  </a:tcPr>
                </a:tc>
              </a:tr>
              <a:tr h="28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RS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Rio Grande do Sul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South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FFFFF"/>
                    </a:solidFill>
                  </a:tcPr>
                </a:tc>
              </a:tr>
              <a:tr h="28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Santa Catarina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South</a:t>
                      </a:r>
                      <a:endParaRPr/>
                    </a:p>
                  </a:txBody>
                  <a:tcPr marT="27425" marB="27425" marR="128025" marL="128025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238" name="Google Shape;238;p10"/>
          <p:cNvSpPr txBox="1"/>
          <p:nvPr/>
        </p:nvSpPr>
        <p:spPr>
          <a:xfrm>
            <a:off x="502920" y="651967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Olist marketplace analysis  ·  olist_marts (BigQuery)  ·  99,441 orders, Sep 2016 – Oct 2018</a:t>
            </a:r>
            <a:endParaRPr/>
          </a:p>
        </p:txBody>
      </p:sp>
      <p:sp>
        <p:nvSpPr>
          <p:cNvPr id="239" name="Google Shape;239;p10"/>
          <p:cNvSpPr txBox="1"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240" name="Google Shape;240;p10"/>
          <p:cNvSpPr txBox="1"/>
          <p:nvPr/>
        </p:nvSpPr>
        <p:spPr>
          <a:xfrm>
            <a:off x="502920" y="6336000"/>
            <a:ext cx="1115568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Source: IBGE — Divisoes Regionais do Brasil (ibge.gov.br/geociencias/organizacao-do-territorio/divisao-regional/15778-divisoes-regionais-do-brasil.html), the Brazilian federal statistics agency responsible for the official state-to-region division.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aa39e91dc_0_0"/>
          <p:cNvSpPr txBox="1"/>
          <p:nvPr/>
        </p:nvSpPr>
        <p:spPr>
          <a:xfrm>
            <a:off x="502920" y="292608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BUSINESS VALUE  ·  APPENDIX</a:t>
            </a:r>
            <a:endParaRPr/>
          </a:p>
        </p:txBody>
      </p:sp>
      <p:sp>
        <p:nvSpPr>
          <p:cNvPr id="246" name="Google Shape;246;g3faa39e91dc_0_0"/>
          <p:cNvSpPr txBox="1"/>
          <p:nvPr/>
        </p:nvSpPr>
        <p:spPr>
          <a:xfrm>
            <a:off x="484632" y="548640"/>
            <a:ext cx="10515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4304D"/>
                </a:solidFill>
                <a:latin typeface="Calibri"/>
                <a:ea typeface="Calibri"/>
                <a:cs typeface="Calibri"/>
                <a:sym typeface="Calibri"/>
              </a:rPr>
              <a:t>Brazilian States, </a:t>
            </a:r>
            <a:r>
              <a:rPr b="1" lang="en-US" sz="2500">
                <a:solidFill>
                  <a:srgbClr val="14304D"/>
                </a:solidFill>
                <a:latin typeface="Calibri"/>
                <a:ea typeface="Calibri"/>
                <a:cs typeface="Calibri"/>
                <a:sym typeface="Calibri"/>
              </a:rPr>
              <a:t>by </a:t>
            </a:r>
            <a:r>
              <a:rPr b="1" i="0" lang="en-US" sz="2500" u="none" cap="none" strike="noStrike">
                <a:solidFill>
                  <a:srgbClr val="14304D"/>
                </a:solidFill>
                <a:latin typeface="Calibri"/>
                <a:ea typeface="Calibri"/>
                <a:cs typeface="Calibri"/>
                <a:sym typeface="Calibri"/>
              </a:rPr>
              <a:t>Regions with Top 10 revenu</a:t>
            </a:r>
            <a:r>
              <a:rPr b="1" lang="en-US" sz="2500">
                <a:solidFill>
                  <a:srgbClr val="14304D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247" name="Google Shape;247;g3faa39e91dc_0_0"/>
          <p:cNvSpPr/>
          <p:nvPr/>
        </p:nvSpPr>
        <p:spPr>
          <a:xfrm>
            <a:off x="502920" y="1207008"/>
            <a:ext cx="960000" cy="50700"/>
          </a:xfrm>
          <a:prstGeom prst="rect">
            <a:avLst/>
          </a:prstGeom>
          <a:solidFill>
            <a:srgbClr val="E079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faa39e91dc_0_0"/>
          <p:cNvSpPr txBox="1"/>
          <p:nvPr/>
        </p:nvSpPr>
        <p:spPr>
          <a:xfrm>
            <a:off x="502920" y="1417320"/>
            <a:ext cx="111558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We use Streamlit to provide a visualisation of the regions that have generated the top 10 revenue. PowerBI has limitation to provide this data.</a:t>
            </a:r>
            <a:endParaRPr/>
          </a:p>
        </p:txBody>
      </p:sp>
      <p:sp>
        <p:nvSpPr>
          <p:cNvPr id="249" name="Google Shape;249;g3faa39e91dc_0_0"/>
          <p:cNvSpPr txBox="1"/>
          <p:nvPr/>
        </p:nvSpPr>
        <p:spPr>
          <a:xfrm>
            <a:off x="502920" y="6519672"/>
            <a:ext cx="8686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Olist marketplace analysis  ·  olist_marts (BigQuery)  ·  99,441 orders, Sep 2016 – Oct 2018</a:t>
            </a:r>
            <a:endParaRPr/>
          </a:p>
        </p:txBody>
      </p:sp>
      <p:sp>
        <p:nvSpPr>
          <p:cNvPr id="250" name="Google Shape;250;g3faa39e91dc_0_0"/>
          <p:cNvSpPr txBox="1"/>
          <p:nvPr/>
        </p:nvSpPr>
        <p:spPr>
          <a:xfrm>
            <a:off x="11475720" y="6519672"/>
            <a:ext cx="365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251" name="Google Shape;251;g3faa39e91dc_0_0"/>
          <p:cNvSpPr txBox="1"/>
          <p:nvPr/>
        </p:nvSpPr>
        <p:spPr>
          <a:xfrm>
            <a:off x="502920" y="6336000"/>
            <a:ext cx="1115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Source: IBGE — Divisoes Regionais do Brasil (ibge.gov.br/geociencias/organizacao-do-territorio/divisao-regional/15778-divisoes-regionais-do-brasil.html), the Brazilian federal statistics agency responsible for the official state-to-region division.</a:t>
            </a:r>
            <a:endParaRPr/>
          </a:p>
        </p:txBody>
      </p:sp>
      <p:pic>
        <p:nvPicPr>
          <p:cNvPr id="252" name="Google Shape;252;g3faa39e91dc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113" y="2052301"/>
            <a:ext cx="7730424" cy="4016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"/>
          <p:cNvSpPr txBox="1"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BUSINESS VALUE  ·  KPI SUMMARY</a:t>
            </a:r>
            <a:endParaRPr/>
          </a:p>
        </p:txBody>
      </p:sp>
      <p:sp>
        <p:nvSpPr>
          <p:cNvPr id="258" name="Google Shape;258;p11"/>
          <p:cNvSpPr txBox="1"/>
          <p:nvPr/>
        </p:nvSpPr>
        <p:spPr>
          <a:xfrm>
            <a:off x="484632" y="548640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4304D"/>
                </a:solidFill>
                <a:latin typeface="Calibri"/>
                <a:ea typeface="Calibri"/>
                <a:cs typeface="Calibri"/>
                <a:sym typeface="Calibri"/>
              </a:rPr>
              <a:t>KPIs by Use Case</a:t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502920" y="1207008"/>
            <a:ext cx="960120" cy="50800"/>
          </a:xfrm>
          <a:prstGeom prst="rect">
            <a:avLst/>
          </a:prstGeom>
          <a:solidFill>
            <a:srgbClr val="E079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0" name="Google Shape;260;p11"/>
          <p:cNvGraphicFramePr/>
          <p:nvPr/>
        </p:nvGraphicFramePr>
        <p:xfrm>
          <a:off x="502920" y="12984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{B47992FD-8D1F-4616-AC05-1968F3831AED}</a:tableStyleId>
              </a:tblPr>
              <a:tblGrid>
                <a:gridCol w="1874525"/>
                <a:gridCol w="4617725"/>
                <a:gridCol w="46908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 case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KPI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Current value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14304D"/>
                    </a:solidFill>
                  </a:tcPr>
                </a:tc>
              </a:tr>
              <a:tr h="393200"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Delivery &amp;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Reviews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Late-delivery rate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8.11% of delivered orders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FFFFF"/>
                    </a:solidFill>
                  </a:tcPr>
                </a:tc>
              </a:tr>
              <a:tr h="393200">
                <a:tc v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Dissatisfied rate, 4–7 days late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67.6%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FFFFF"/>
                    </a:solidFill>
                  </a:tcPr>
                </a:tc>
              </a:tr>
              <a:tr h="393200">
                <a:tc v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Revenue via late orders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R$1.16M (8.8% of product revenue)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FFFFF"/>
                    </a:solidFill>
                  </a:tcPr>
                </a:tc>
              </a:tr>
              <a:tr h="393200">
                <a:tc v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Repeat-rate gap, on-time vs. late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3.41% vs. 2.78% (0.63pp)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FFFFF"/>
                    </a:solidFill>
                  </a:tcPr>
                </a:tc>
              </a:tr>
              <a:tr h="393200"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Retention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Repeat-purchase rate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3.1% (2,997 of 96,096 customers)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7F8FA"/>
                    </a:solidFill>
                  </a:tcPr>
                </a:tc>
              </a:tr>
              <a:tr h="393200">
                <a:tc v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Repeat-customer value multiplier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1.8× a one-time buyer (R$288 vs. R$159)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7F8FA"/>
                    </a:solidFill>
                  </a:tcPr>
                </a:tc>
              </a:tr>
              <a:tr h="393200">
                <a:tc v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Median days to 2nd order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 days (51% within 30 days)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7F8FA"/>
                    </a:solidFill>
                  </a:tcPr>
                </a:tc>
              </a:tr>
              <a:tr h="393200">
                <a:tc v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Lapsed win-back pool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~68,000 customers (181–540 days)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7F8FA"/>
                    </a:solidFill>
                  </a:tcPr>
                </a:tc>
              </a:tr>
              <a:tr h="393200"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430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Geography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Revenue concentration, top 3 states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63% (SP 38%, RJ 13%, MG 12%)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FFFFF"/>
                    </a:solidFill>
                  </a:tcPr>
                </a:tc>
              </a:tr>
              <a:tr h="393200">
                <a:tc v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Revenue concentration, top 10 cities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34%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FFFFF"/>
                    </a:solidFill>
                  </a:tcPr>
                </a:tc>
              </a:tr>
              <a:tr h="393200">
                <a:tc v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Long-tail revenue share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~7% (2,905 cities, ≤5 orders each)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FFFFF"/>
                    </a:solidFill>
                  </a:tcPr>
                </a:tc>
              </a:tr>
              <a:tr h="393200">
                <a:tc v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AOV, Northeast vs. core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22C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R$152–171 (CE/PE/BA) vs. R$126 (SP)</a:t>
                      </a:r>
                      <a:endParaRPr/>
                    </a:p>
                  </a:txBody>
                  <a:tcPr marT="54875" marB="54875" marR="128025" marL="1280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1" name="Google Shape;261;p11"/>
          <p:cNvSpPr txBox="1"/>
          <p:nvPr/>
        </p:nvSpPr>
        <p:spPr>
          <a:xfrm>
            <a:off x="502920" y="651967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Olist marketplace analysis  ·  olist_marts (BigQuery)  ·  99,441 orders, Sep 2016 – Oct 2018</a:t>
            </a:r>
            <a:endParaRPr/>
          </a:p>
        </p:txBody>
      </p:sp>
      <p:sp>
        <p:nvSpPr>
          <p:cNvPr id="262" name="Google Shape;262;p11"/>
          <p:cNvSpPr txBox="1"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"/>
          <p:cNvSpPr txBox="1"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BUSINESS VALUE  ·  ROADMAP</a:t>
            </a:r>
            <a:endParaRPr/>
          </a:p>
        </p:txBody>
      </p:sp>
      <p:sp>
        <p:nvSpPr>
          <p:cNvPr id="268" name="Google Shape;268;p12"/>
          <p:cNvSpPr txBox="1"/>
          <p:nvPr/>
        </p:nvSpPr>
        <p:spPr>
          <a:xfrm>
            <a:off x="484632" y="548640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304D"/>
                </a:solidFill>
                <a:latin typeface="Calibri"/>
                <a:ea typeface="Calibri"/>
                <a:cs typeface="Calibri"/>
                <a:sym typeface="Calibri"/>
              </a:rPr>
              <a:t>Recommended Roadmap &amp; How We'll Measure It</a:t>
            </a:r>
            <a:endParaRPr/>
          </a:p>
        </p:txBody>
      </p:sp>
      <p:sp>
        <p:nvSpPr>
          <p:cNvPr id="269" name="Google Shape;269;p12"/>
          <p:cNvSpPr/>
          <p:nvPr/>
        </p:nvSpPr>
        <p:spPr>
          <a:xfrm>
            <a:off x="502920" y="1207008"/>
            <a:ext cx="960120" cy="50800"/>
          </a:xfrm>
          <a:prstGeom prst="rect">
            <a:avLst/>
          </a:prstGeom>
          <a:solidFill>
            <a:srgbClr val="E079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502920" y="1508760"/>
            <a:ext cx="3529584" cy="2880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502920" y="1508760"/>
            <a:ext cx="3529584" cy="73152"/>
          </a:xfrm>
          <a:prstGeom prst="rect">
            <a:avLst/>
          </a:prstGeom>
          <a:solidFill>
            <a:srgbClr val="E079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 txBox="1"/>
          <p:nvPr/>
        </p:nvSpPr>
        <p:spPr>
          <a:xfrm>
            <a:off x="740664" y="1709928"/>
            <a:ext cx="30723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0–30 DAYS</a:t>
            </a:r>
            <a:endParaRPr/>
          </a:p>
        </p:txBody>
      </p:sp>
      <p:sp>
        <p:nvSpPr>
          <p:cNvPr id="273" name="Google Shape;273;p12"/>
          <p:cNvSpPr txBox="1"/>
          <p:nvPr/>
        </p:nvSpPr>
        <p:spPr>
          <a:xfrm>
            <a:off x="740664" y="1984248"/>
            <a:ext cx="30723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4304D"/>
                </a:solidFill>
                <a:latin typeface="Calibri"/>
                <a:ea typeface="Calibri"/>
                <a:cs typeface="Calibri"/>
                <a:sym typeface="Calibri"/>
              </a:rPr>
              <a:t>Quick wins</a:t>
            </a:r>
            <a:endParaRPr/>
          </a:p>
        </p:txBody>
      </p:sp>
      <p:sp>
        <p:nvSpPr>
          <p:cNvPr id="274" name="Google Shape;274;p12"/>
          <p:cNvSpPr txBox="1"/>
          <p:nvPr/>
        </p:nvSpPr>
        <p:spPr>
          <a:xfrm>
            <a:off x="740664" y="2423160"/>
            <a:ext cx="3072384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600" u="none" cap="none" strike="noStrike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Service-recovery credit on every late order, within 24–48h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600" u="none" cap="none" strike="noStrike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Lifecycle nudge + voucher at day 20–25 post-purchase</a:t>
            </a:r>
            <a:endParaRPr/>
          </a:p>
        </p:txBody>
      </p:sp>
      <p:sp>
        <p:nvSpPr>
          <p:cNvPr id="275" name="Google Shape;275;p12"/>
          <p:cNvSpPr/>
          <p:nvPr/>
        </p:nvSpPr>
        <p:spPr>
          <a:xfrm>
            <a:off x="4251960" y="1508760"/>
            <a:ext cx="3529584" cy="2880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4251960" y="1508760"/>
            <a:ext cx="3529584" cy="73152"/>
          </a:xfrm>
          <a:prstGeom prst="rect">
            <a:avLst/>
          </a:prstGeom>
          <a:solidFill>
            <a:srgbClr val="E079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 txBox="1"/>
          <p:nvPr/>
        </p:nvSpPr>
        <p:spPr>
          <a:xfrm>
            <a:off x="4489704" y="1709928"/>
            <a:ext cx="30723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30–90 DAYS</a:t>
            </a:r>
            <a:endParaRPr/>
          </a:p>
        </p:txBody>
      </p:sp>
      <p:sp>
        <p:nvSpPr>
          <p:cNvPr id="278" name="Google Shape;278;p12"/>
          <p:cNvSpPr txBox="1"/>
          <p:nvPr/>
        </p:nvSpPr>
        <p:spPr>
          <a:xfrm>
            <a:off x="4489704" y="1984248"/>
            <a:ext cx="30723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4304D"/>
                </a:solidFill>
                <a:latin typeface="Calibri"/>
                <a:ea typeface="Calibri"/>
                <a:cs typeface="Calibri"/>
                <a:sym typeface="Calibri"/>
              </a:rPr>
              <a:t>Next quarter</a:t>
            </a:r>
            <a:endParaRPr/>
          </a:p>
        </p:txBody>
      </p:sp>
      <p:sp>
        <p:nvSpPr>
          <p:cNvPr id="279" name="Google Shape;279;p12"/>
          <p:cNvSpPr txBox="1"/>
          <p:nvPr/>
        </p:nvSpPr>
        <p:spPr>
          <a:xfrm>
            <a:off x="4489704" y="2423160"/>
            <a:ext cx="3072384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600" u="none" cap="none" strike="noStrike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Pad delivery promises &amp; pre-book carrier capacity for Nov / Feb–Mar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600" u="none" cap="none" strike="noStrike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Category cross-sell for one-time buyers in low-repeat categories</a:t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8001000" y="1508760"/>
            <a:ext cx="3529584" cy="2880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8001000" y="1508760"/>
            <a:ext cx="3529584" cy="73152"/>
          </a:xfrm>
          <a:prstGeom prst="rect">
            <a:avLst/>
          </a:prstGeom>
          <a:solidFill>
            <a:srgbClr val="E079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 txBox="1"/>
          <p:nvPr/>
        </p:nvSpPr>
        <p:spPr>
          <a:xfrm>
            <a:off x="8238744" y="1709928"/>
            <a:ext cx="30723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ONGOING</a:t>
            </a:r>
            <a:endParaRPr/>
          </a:p>
        </p:txBody>
      </p:sp>
      <p:sp>
        <p:nvSpPr>
          <p:cNvPr id="283" name="Google Shape;283;p12"/>
          <p:cNvSpPr txBox="1"/>
          <p:nvPr/>
        </p:nvSpPr>
        <p:spPr>
          <a:xfrm>
            <a:off x="8238744" y="1984248"/>
            <a:ext cx="30723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4304D"/>
                </a:solidFill>
                <a:latin typeface="Calibri"/>
                <a:ea typeface="Calibri"/>
                <a:cs typeface="Calibri"/>
                <a:sym typeface="Calibri"/>
              </a:rPr>
              <a:t>Sustained</a:t>
            </a:r>
            <a:endParaRPr/>
          </a:p>
        </p:txBody>
      </p:sp>
      <p:sp>
        <p:nvSpPr>
          <p:cNvPr id="284" name="Google Shape;284;p12"/>
          <p:cNvSpPr txBox="1"/>
          <p:nvPr/>
        </p:nvSpPr>
        <p:spPr>
          <a:xfrm>
            <a:off x="8238744" y="2423160"/>
            <a:ext cx="3072384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600" u="none" cap="none" strike="noStrike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Quarterly win-back offers to the ~68K-customer lapsed pool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600" u="none" cap="none" strike="noStrike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Regional (not city-level) targeting for growth spend</a:t>
            </a:r>
            <a:endParaRPr/>
          </a:p>
        </p:txBody>
      </p:sp>
      <p:sp>
        <p:nvSpPr>
          <p:cNvPr id="285" name="Google Shape;285;p12"/>
          <p:cNvSpPr txBox="1"/>
          <p:nvPr/>
        </p:nvSpPr>
        <p:spPr>
          <a:xfrm>
            <a:off x="502920" y="46177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304D"/>
                </a:solidFill>
                <a:latin typeface="Calibri"/>
                <a:ea typeface="Calibri"/>
                <a:cs typeface="Calibri"/>
                <a:sym typeface="Calibri"/>
              </a:rPr>
              <a:t>KPIs to track</a:t>
            </a:r>
            <a:endParaRPr/>
          </a:p>
        </p:txBody>
      </p:sp>
      <p:sp>
        <p:nvSpPr>
          <p:cNvPr id="286" name="Google Shape;286;p12"/>
          <p:cNvSpPr txBox="1"/>
          <p:nvPr/>
        </p:nvSpPr>
        <p:spPr>
          <a:xfrm>
            <a:off x="502920" y="4983480"/>
            <a:ext cx="5394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600" u="none" cap="none" strike="noStrike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Repeat rate at 30 / 60 / 90 days, vs. a holdout group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600" u="none" cap="none" strike="noStrike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Dissatisfied-customer rate on late orders (Section 1 guardrail)</a:t>
            </a:r>
            <a:endParaRPr/>
          </a:p>
        </p:txBody>
      </p:sp>
      <p:sp>
        <p:nvSpPr>
          <p:cNvPr id="287" name="Google Shape;287;p12"/>
          <p:cNvSpPr/>
          <p:nvPr/>
        </p:nvSpPr>
        <p:spPr>
          <a:xfrm>
            <a:off x="6172200" y="4617720"/>
            <a:ext cx="5513832" cy="1737360"/>
          </a:xfrm>
          <a:prstGeom prst="rect">
            <a:avLst/>
          </a:prstGeom>
          <a:solidFill>
            <a:srgbClr val="1430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 txBox="1"/>
          <p:nvPr/>
        </p:nvSpPr>
        <p:spPr>
          <a:xfrm>
            <a:off x="6400800" y="4773168"/>
            <a:ext cx="5074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MEASURED AGAINST</a:t>
            </a:r>
            <a:endParaRPr/>
          </a:p>
        </p:txBody>
      </p:sp>
      <p:sp>
        <p:nvSpPr>
          <p:cNvPr id="289" name="Google Shape;289;p12"/>
          <p:cNvSpPr txBox="1"/>
          <p:nvPr/>
        </p:nvSpPr>
        <p:spPr>
          <a:xfrm>
            <a:off x="6400800" y="5074920"/>
            <a:ext cx="50749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KPI Summary on the previous slide — repeat rate, late-delivery rate, and revenue concentration — not a one-time estimate.</a:t>
            </a:r>
            <a:endParaRPr/>
          </a:p>
        </p:txBody>
      </p:sp>
      <p:sp>
        <p:nvSpPr>
          <p:cNvPr id="290" name="Google Shape;290;p12"/>
          <p:cNvSpPr txBox="1"/>
          <p:nvPr/>
        </p:nvSpPr>
        <p:spPr>
          <a:xfrm>
            <a:off x="502920" y="651967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Olist marketplace analysis  ·  olist_marts (BigQuery)  ·  99,441 orders, Sep 2016 – Oct 2018</a:t>
            </a:r>
            <a:endParaRPr/>
          </a:p>
        </p:txBody>
      </p:sp>
      <p:sp>
        <p:nvSpPr>
          <p:cNvPr id="291" name="Google Shape;291;p12"/>
          <p:cNvSpPr txBox="1"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4"/>
          <p:cNvSpPr txBox="1"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0793A"/>
                </a:solidFill>
                <a:latin typeface="Calibri"/>
                <a:ea typeface="Calibri"/>
                <a:cs typeface="Calibri"/>
                <a:sym typeface="Calibri"/>
              </a:rPr>
              <a:t>TECHNICAL FOUNDATION  ·  8 OF 8</a:t>
            </a:r>
            <a:endParaRPr/>
          </a:p>
        </p:txBody>
      </p:sp>
      <p:sp>
        <p:nvSpPr>
          <p:cNvPr id="320" name="Google Shape;320;p14"/>
          <p:cNvSpPr txBox="1"/>
          <p:nvPr/>
        </p:nvSpPr>
        <p:spPr>
          <a:xfrm>
            <a:off x="484632" y="548640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4304D"/>
                </a:solidFill>
                <a:latin typeface="Calibri"/>
                <a:ea typeface="Calibri"/>
                <a:cs typeface="Calibri"/>
                <a:sym typeface="Calibri"/>
              </a:rPr>
              <a:t>Why the Architecture Is Part of the Business Value</a:t>
            </a:r>
            <a:endParaRPr/>
          </a:p>
        </p:txBody>
      </p:sp>
      <p:sp>
        <p:nvSpPr>
          <p:cNvPr id="321" name="Google Shape;321;p14"/>
          <p:cNvSpPr/>
          <p:nvPr/>
        </p:nvSpPr>
        <p:spPr>
          <a:xfrm>
            <a:off x="502920" y="1207008"/>
            <a:ext cx="960120" cy="50800"/>
          </a:xfrm>
          <a:prstGeom prst="rect">
            <a:avLst/>
          </a:prstGeom>
          <a:solidFill>
            <a:srgbClr val="E079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502920" y="1508760"/>
            <a:ext cx="3529584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502920" y="1508760"/>
            <a:ext cx="3529584" cy="566928"/>
          </a:xfrm>
          <a:prstGeom prst="rect">
            <a:avLst/>
          </a:prstGeom>
          <a:solidFill>
            <a:srgbClr val="1430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 txBox="1"/>
          <p:nvPr/>
        </p:nvSpPr>
        <p:spPr>
          <a:xfrm>
            <a:off x="704088" y="1508760"/>
            <a:ext cx="31272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Delivery → Reviews</a:t>
            </a:r>
            <a:endParaRPr/>
          </a:p>
        </p:txBody>
      </p:sp>
      <p:sp>
        <p:nvSpPr>
          <p:cNvPr id="325" name="Google Shape;325;p14"/>
          <p:cNvSpPr txBox="1"/>
          <p:nvPr/>
        </p:nvSpPr>
        <p:spPr>
          <a:xfrm>
            <a:off x="758952" y="2286000"/>
            <a:ext cx="3017520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Order timestamps are typed and frozen at ingestion, and payments are kept in their own fact table instead of being joined to order lines. That discipline is what keeps the R$13.5M revenue and R$1.16M late-delivery figures accurate instead of inflated.</a:t>
            </a:r>
            <a:endParaRPr/>
          </a:p>
        </p:txBody>
      </p:sp>
      <p:sp>
        <p:nvSpPr>
          <p:cNvPr id="326" name="Google Shape;326;p14"/>
          <p:cNvSpPr/>
          <p:nvPr/>
        </p:nvSpPr>
        <p:spPr>
          <a:xfrm>
            <a:off x="4251960" y="1508760"/>
            <a:ext cx="3529584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4251960" y="1508760"/>
            <a:ext cx="3529584" cy="566928"/>
          </a:xfrm>
          <a:prstGeom prst="rect">
            <a:avLst/>
          </a:prstGeom>
          <a:solidFill>
            <a:srgbClr val="1430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 txBox="1"/>
          <p:nvPr/>
        </p:nvSpPr>
        <p:spPr>
          <a:xfrm>
            <a:off x="4453128" y="1508760"/>
            <a:ext cx="31272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Retention</a:t>
            </a:r>
            <a:endParaRPr/>
          </a:p>
        </p:txBody>
      </p:sp>
      <p:sp>
        <p:nvSpPr>
          <p:cNvPr id="329" name="Google Shape;329;p14"/>
          <p:cNvSpPr txBox="1"/>
          <p:nvPr/>
        </p:nvSpPr>
        <p:spPr>
          <a:xfrm>
            <a:off x="4507992" y="2286000"/>
            <a:ext cx="3017520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dim_customer is keyed on customer_unique_id, not the per-order customer_id every raw table uses. Get that key wrong and Olist looks like it has zero repeat customers — this one modeling decision is what makes the 3.1% repeat rate visible at all.</a:t>
            </a:r>
            <a:endParaRPr/>
          </a:p>
        </p:txBody>
      </p:sp>
      <p:sp>
        <p:nvSpPr>
          <p:cNvPr id="330" name="Google Shape;330;p14"/>
          <p:cNvSpPr/>
          <p:nvPr/>
        </p:nvSpPr>
        <p:spPr>
          <a:xfrm>
            <a:off x="8001000" y="1508760"/>
            <a:ext cx="3529584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8001000" y="1508760"/>
            <a:ext cx="3529584" cy="566928"/>
          </a:xfrm>
          <a:prstGeom prst="rect">
            <a:avLst/>
          </a:prstGeom>
          <a:solidFill>
            <a:srgbClr val="1430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 txBox="1"/>
          <p:nvPr/>
        </p:nvSpPr>
        <p:spPr>
          <a:xfrm>
            <a:off x="8202168" y="1508760"/>
            <a:ext cx="31272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Geography</a:t>
            </a:r>
            <a:endParaRPr/>
          </a:p>
        </p:txBody>
      </p:sp>
      <p:sp>
        <p:nvSpPr>
          <p:cNvPr id="333" name="Google Shape;333;p14"/>
          <p:cNvSpPr txBox="1"/>
          <p:nvPr/>
        </p:nvSpPr>
        <p:spPr>
          <a:xfrm>
            <a:off x="8257032" y="2286000"/>
            <a:ext cx="3017520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C37"/>
                </a:solidFill>
                <a:latin typeface="Calibri"/>
                <a:ea typeface="Calibri"/>
                <a:cs typeface="Calibri"/>
                <a:sym typeface="Calibri"/>
              </a:rPr>
              <a:t>int_geolocation_deduped collapses ~1M raw coordinate rows to one reliable point per zip code before it reaches dim_customer. Skip that step and city/state revenue totals double-count, and the 3-state concentration finding becomes noise.</a:t>
            </a:r>
            <a:endParaRPr/>
          </a:p>
        </p:txBody>
      </p:sp>
      <p:sp>
        <p:nvSpPr>
          <p:cNvPr id="334" name="Google Shape;334;p14"/>
          <p:cNvSpPr/>
          <p:nvPr/>
        </p:nvSpPr>
        <p:spPr>
          <a:xfrm>
            <a:off x="502920" y="5166360"/>
            <a:ext cx="11183112" cy="1051560"/>
          </a:xfrm>
          <a:prstGeom prst="rect">
            <a:avLst/>
          </a:prstGeom>
          <a:solidFill>
            <a:srgbClr val="F7F8FA"/>
          </a:solidFill>
          <a:ln cap="flat" cmpd="sng" w="15875">
            <a:solidFill>
              <a:srgbClr val="E079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4"/>
          <p:cNvSpPr txBox="1"/>
          <p:nvPr/>
        </p:nvSpPr>
        <p:spPr>
          <a:xfrm>
            <a:off x="777240" y="53035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4304D"/>
                </a:solidFill>
                <a:latin typeface="Calibri"/>
                <a:ea typeface="Calibri"/>
                <a:cs typeface="Calibri"/>
                <a:sym typeface="Calibri"/>
              </a:rPr>
              <a:t>Bottom line: the marts rebuild themselves the moment new data lands, 79 tests guard them on every build, and non-engineers can already query them directly — this stays a live, self-serve capability, not a one-off report.</a:t>
            </a:r>
            <a:endParaRPr/>
          </a:p>
        </p:txBody>
      </p:sp>
      <p:sp>
        <p:nvSpPr>
          <p:cNvPr id="336" name="Google Shape;336;p14"/>
          <p:cNvSpPr txBox="1"/>
          <p:nvPr/>
        </p:nvSpPr>
        <p:spPr>
          <a:xfrm>
            <a:off x="502920" y="6519672"/>
            <a:ext cx="8686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Olist marketplace analysis  ·  olist_marts (BigQuery)  ·  99,441 orders, Sep 2016 – Oct 2018</a:t>
            </a:r>
            <a:endParaRPr/>
          </a:p>
        </p:txBody>
      </p:sp>
      <p:sp>
        <p:nvSpPr>
          <p:cNvPr id="337" name="Google Shape;337;p14"/>
          <p:cNvSpPr txBox="1"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793A"/>
                </a:solidFill>
                <a:latin typeface="Calibri"/>
              </a:rPr>
              <a:t>TECHNICAL FOUNDATION  ·  1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Calibri"/>
              </a:rPr>
              <a:t>Olist marketplace analysis  ·  olist_marts (BigQuery)  ·  99,441 orders, Sep 2016 – Oct 2018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300" b="1">
                <a:solidFill>
                  <a:srgbClr val="14304D"/>
                </a:solidFill>
                <a:latin typeface="Calibri"/>
              </a:rPr>
              <a:t>High-Level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212848"/>
            <a:ext cx="960120" cy="54864"/>
          </a:xfrm>
          <a:prstGeom prst="rect">
            <a:avLst/>
          </a:prstGeom>
          <a:solidFill>
            <a:srgbClr val="E07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468880"/>
            <a:ext cx="224028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00" b="1">
                <a:solidFill>
                  <a:srgbClr val="14304D"/>
                </a:solidFill>
                <a:latin typeface="Calibri"/>
              </a:rPr>
              <a:t>Six zones, one flow. </a:t>
            </a:r>
            <a:r>
              <a:rPr sz="1200" b="0">
                <a:solidFill>
                  <a:srgbClr val="222C37"/>
                </a:solidFill>
                <a:latin typeface="Calibri"/>
              </a:rPr>
              <a:t>Solid arrows are data moving; dashed arrows are control and validation.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00" b="0">
                <a:solidFill>
                  <a:srgbClr val="222C37"/>
                </a:solidFill>
                <a:latin typeface="Calibri"/>
              </a:rPr>
              <a:t>Everything inside runs as one Dagster asset graph — the contracts each layer keeps are on the next slide.</a:t>
            </a:r>
          </a:p>
          <a:p>
            <a:pPr algn="l">
              <a:lnSpc>
                <a:spcPct val="118000"/>
              </a:lnSpc>
            </a:pPr>
            <a:r>
              <a:rPr sz="1050" b="1">
                <a:solidFill>
                  <a:srgbClr val="E0793A"/>
                </a:solidFill>
                <a:latin typeface="Calibri"/>
              </a:rPr>
              <a:t>Generated from code: </a:t>
            </a:r>
            <a:r>
              <a:rPr sz="1050" b="0">
                <a:solidFill>
                  <a:srgbClr val="5B6B7A"/>
                </a:solidFill>
                <a:latin typeface="Calibri"/>
              </a:rPr>
              <a:t>docs/diagrams/generate_diagrams.py, so the picture cannot drift from the pipeline.</a:t>
            </a:r>
          </a:p>
        </p:txBody>
      </p:sp>
      <p:pic>
        <p:nvPicPr>
          <p:cNvPr id="8" name="Picture 7" descr="arch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658368"/>
            <a:ext cx="8714232" cy="54510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793A"/>
                </a:solidFill>
                <a:latin typeface="Calibri"/>
              </a:rPr>
              <a:t>TECHNICAL FOUNDATION  ·  2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48640"/>
            <a:ext cx="105156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4304D"/>
                </a:solidFill>
                <a:latin typeface="Calibri"/>
              </a:rPr>
              <a:t>What Each Layer Promises, and What Sets It Running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960120" cy="54864"/>
          </a:xfrm>
          <a:prstGeom prst="rect">
            <a:avLst/>
          </a:prstGeom>
          <a:solidFill>
            <a:srgbClr val="E07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Calibri"/>
              </a:rPr>
              <a:t>Olist marketplace analysis  ·  olist_marts (BigQuery)  ·  99,441 orders, Sep 2016 – Oct 2018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222C37"/>
                </a:solidFill>
                <a:latin typeface="Calibri"/>
              </a:rPr>
              <a:t>The diagram shows the shape of the platform. These are the rules that keep it trustworthy when it runs unattended.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47088"/>
            <a:ext cx="562356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47088"/>
            <a:ext cx="5623560" cy="475488"/>
          </a:xfrm>
          <a:prstGeom prst="rect">
            <a:avLst/>
          </a:prstGeom>
          <a:solidFill>
            <a:srgbClr val="14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847088"/>
            <a:ext cx="522122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THE CONTRACT EACH LAYER KEEPS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87168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14304D"/>
                </a:solidFill>
                <a:latin typeface="Calibri"/>
              </a:rPr>
              <a:t>1  ·  SOURCE — Kaggle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222C37"/>
                </a:solidFill>
                <a:latin typeface="Calibri"/>
              </a:rPr>
              <a:t>Dataset version and all 52 columns pinned in config; a missing file or an unexpected column fails the run.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18688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14304D"/>
                </a:solidFill>
                <a:latin typeface="Calibri"/>
              </a:rPr>
              <a:t>2  ·  RAW ZONE — Cloud Storage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222C37"/>
                </a:solidFill>
                <a:latin typeface="Calibri"/>
              </a:rPr>
              <a:t>The exact extracted files stay under a dated prefix, so any prefix replays downstream without re-downloading.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50208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14304D"/>
                </a:solidFill>
                <a:latin typeface="Calibri"/>
              </a:rPr>
              <a:t>3  ·  LOAD — dlt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222C37"/>
                </a:solidFill>
                <a:latin typeface="Calibri"/>
              </a:rPr>
              <a:t>Schema frozen: a new or retyped column fails the load. Loads replace, so a rerun never duplicates rows.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81728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14304D"/>
                </a:solidFill>
                <a:latin typeface="Calibri"/>
              </a:rPr>
              <a:t>4  ·  WAREHOUSE — BigQuery + dbt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222C37"/>
                </a:solidFill>
                <a:latin typeface="Calibri"/>
              </a:rPr>
              <a:t>Each cleaning rule lives in the earliest layer with enough context — and only there.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413248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14304D"/>
                </a:solidFill>
                <a:latin typeface="Calibri"/>
              </a:rPr>
              <a:t>5  ·  CONSUMPTION — notebooks, Streamlit, dbt Docs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222C37"/>
                </a:solidFill>
                <a:latin typeface="Calibri"/>
              </a:rPr>
              <a:t>Consumers read marts, never raw or staging.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847088"/>
            <a:ext cx="5285232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847088"/>
            <a:ext cx="5285232" cy="475488"/>
          </a:xfrm>
          <a:prstGeom prst="rect">
            <a:avLst/>
          </a:prstGeom>
          <a:solidFill>
            <a:srgbClr val="14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1847088"/>
            <a:ext cx="488289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ORCHESTRATION  ·  TWO SIGNALS, ONE GRAPH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2487168"/>
            <a:ext cx="4736592" cy="530352"/>
          </a:xfrm>
          <a:prstGeom prst="rect">
            <a:avLst/>
          </a:prstGeom>
          <a:solidFill>
            <a:srgbClr val="14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21424" y="2487168"/>
            <a:ext cx="444398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08:00 SGT  ·  daily_refresh schedule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C6D0DB"/>
                </a:solidFill>
                <a:latin typeface="Calibri"/>
              </a:rPr>
              <a:t>a clock, because Kaggle announces nothing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8970264" y="3035808"/>
            <a:ext cx="146304" cy="164592"/>
          </a:xfrm>
          <a:prstGeom prst="downArrow">
            <a:avLst/>
          </a:prstGeom>
          <a:solidFill>
            <a:srgbClr val="9AA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3218688"/>
            <a:ext cx="4736592" cy="530352"/>
          </a:xfrm>
          <a:prstGeom prst="rect">
            <a:avLst/>
          </a:prstGeom>
          <a:solidFill>
            <a:srgbClr val="14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21424" y="3218688"/>
            <a:ext cx="444398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Kaggle → GCS → olist_raw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C6D0DB"/>
                </a:solidFill>
                <a:latin typeface="Calibri"/>
              </a:rPr>
              <a:t>the ingestion group only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8970264" y="3767328"/>
            <a:ext cx="146304" cy="164592"/>
          </a:xfrm>
          <a:prstGeom prst="downArrow">
            <a:avLst/>
          </a:prstGeom>
          <a:solidFill>
            <a:srgbClr val="9AA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75120" y="3950208"/>
            <a:ext cx="4736592" cy="530352"/>
          </a:xfrm>
          <a:prstGeom prst="rect">
            <a:avLst/>
          </a:prstGeom>
          <a:solidFill>
            <a:srgbClr val="E07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21424" y="3950208"/>
            <a:ext cx="444398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automation-condition sensor, every 60s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FBE3D2"/>
                </a:solidFill>
                <a:latin typeface="Calibri"/>
              </a:rPr>
              <a:t>an event: raw materialized successfully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8970264" y="4498848"/>
            <a:ext cx="146304" cy="164592"/>
          </a:xfrm>
          <a:prstGeom prst="downArrow">
            <a:avLst/>
          </a:prstGeom>
          <a:solidFill>
            <a:srgbClr val="9AA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75120" y="4681728"/>
            <a:ext cx="4736592" cy="530352"/>
          </a:xfrm>
          <a:prstGeom prst="rect">
            <a:avLst/>
          </a:prstGeom>
          <a:solidFill>
            <a:srgbClr val="14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21424" y="4681728"/>
            <a:ext cx="444398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21 dbt models + their asset checks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C6D0DB"/>
                </a:solidFill>
                <a:latin typeface="Calibri"/>
              </a:rPr>
              <a:t>marts rebuilt, tests run in the same pass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394960"/>
            <a:ext cx="47365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14304D"/>
                </a:solidFill>
                <a:latin typeface="Calibri"/>
              </a:rPr>
              <a:t>Why two signals and not one cron. </a:t>
            </a:r>
            <a:r>
              <a:rPr sz="1150" b="0">
                <a:solidFill>
                  <a:srgbClr val="222C37"/>
                </a:solidFill>
                <a:latin typeface="Calibri"/>
              </a:rPr>
              <a:t>Kaggle publishes no event, so ingestion is polled. A successful raw load is an event inside the platform, so transforms react to it — and failed ingestion never rebuilds the marts over stale data.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793A"/>
                </a:solidFill>
                <a:latin typeface="Calibri"/>
              </a:rPr>
              <a:t>TECHNICAL FOUNDATION  ·  3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48640"/>
            <a:ext cx="105156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4304D"/>
                </a:solidFill>
                <a:latin typeface="Calibri"/>
              </a:rPr>
              <a:t>Why These Tools — and What We Turned 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960120" cy="54864"/>
          </a:xfrm>
          <a:prstGeom prst="rect">
            <a:avLst/>
          </a:prstGeom>
          <a:solidFill>
            <a:srgbClr val="E07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Calibri"/>
              </a:rPr>
              <a:t>Olist marketplace analysis  ·  olist_marts (BigQuery)  ·  99,441 orders, Sep 2016 – Oct 2018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222C37"/>
                </a:solidFill>
                <a:latin typeface="Calibri"/>
              </a:rPr>
              <a:t>Five decisions carry the platform. Each was made against a named alternative: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810512"/>
          <a:ext cx="11183110" cy="4261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874519"/>
                <a:gridCol w="3977639"/>
                <a:gridCol w="3730752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Concern</a:t>
                      </a:r>
                    </a:p>
                  </a:txBody>
                  <a:tcPr marL="128016" marR="128016" marT="54864" marB="54864" anchor="ctr">
                    <a:solidFill>
                      <a:srgbClr val="14304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Our choice</a:t>
                      </a:r>
                    </a:p>
                  </a:txBody>
                  <a:tcPr marL="128016" marR="128016" marT="54864" marB="54864" anchor="ctr">
                    <a:solidFill>
                      <a:srgbClr val="14304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Why it wins here</a:t>
                      </a:r>
                    </a:p>
                  </a:txBody>
                  <a:tcPr marL="128016" marR="128016" marT="54864" marB="54864" anchor="ctr">
                    <a:solidFill>
                      <a:srgbClr val="14304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What we turned down</a:t>
                      </a:r>
                    </a:p>
                  </a:txBody>
                  <a:tcPr marL="128016" marR="128016" marT="54864" marB="54864" anchor="ctr">
                    <a:solidFill>
                      <a:srgbClr val="14304D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14304D"/>
                          </a:solidFill>
                          <a:latin typeface="Calibri"/>
                        </a:rPr>
                        <a:t>Warehouse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E0793A"/>
                          </a:solidFill>
                          <a:latin typeface="Calibri"/>
                        </a:rPr>
                        <a:t>BigQuery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22C37"/>
                          </a:solidFill>
                          <a:latin typeface="Calibri"/>
                        </a:rPr>
                        <a:t>Managed columnar storage with elastic compute, and transformation logic that runs next to the data it reads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22C37"/>
                          </a:solidFill>
                          <a:latin typeface="Calibri"/>
                        </a:rPr>
                        <a:t>Postgres is tuned for transactions; DuckDB is excellent locally but would not exercise a cloud architecture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14304D"/>
                          </a:solidFill>
                          <a:latin typeface="Calibri"/>
                        </a:rPr>
                        <a:t>Ingestion</a:t>
                      </a:r>
                    </a:p>
                  </a:txBody>
                  <a:tcPr marL="128016" marR="128016" marT="54864" marB="54864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E0793A"/>
                          </a:solidFill>
                          <a:latin typeface="Calibri"/>
                        </a:rPr>
                        <a:t>dlt</a:t>
                      </a:r>
                    </a:p>
                  </a:txBody>
                  <a:tcPr marL="128016" marR="128016" marT="54864" marB="54864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22C37"/>
                          </a:solidFill>
                          <a:latin typeface="Calibri"/>
                        </a:rPr>
                        <a:t>Declared column types, a schema contract that freezes drift, replace loads, and per-table lineage in Dagster</a:t>
                      </a:r>
                    </a:p>
                  </a:txBody>
                  <a:tcPr marL="128016" marR="128016" marT="54864" marB="54864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22C37"/>
                          </a:solidFill>
                          <a:latin typeface="Calibri"/>
                        </a:rPr>
                        <a:t>Hand-written loaders mean owning retry, schema and lineage code; Meltano adds a Singer layer without removing the Kaggle step</a:t>
                      </a:r>
                    </a:p>
                  </a:txBody>
                  <a:tcPr marL="128016" marR="128016" marT="54864" marB="54864" anchor="ctr">
                    <a:solidFill>
                      <a:srgbClr val="EEF1F5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14304D"/>
                          </a:solidFill>
                          <a:latin typeface="Calibri"/>
                        </a:rPr>
                        <a:t>Transformation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E0793A"/>
                          </a:solidFill>
                          <a:latin typeface="Calibri"/>
                        </a:rPr>
                        <a:t>dbt Core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22C37"/>
                          </a:solidFill>
                          <a:latin typeface="Calibri"/>
                        </a:rPr>
                        <a:t>Dependency graph, tests and documentation in one tool — and every model appears individually in the asset graph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22C37"/>
                          </a:solidFill>
                          <a:latin typeface="Calibri"/>
                        </a:rPr>
                        <a:t>Raw SQL carries no dependency or test metadata; dbt Cloud would add a second scheduler and hide model-level lineage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14304D"/>
                          </a:solidFill>
                          <a:latin typeface="Calibri"/>
                        </a:rPr>
                        <a:t>Orchestration</a:t>
                      </a:r>
                    </a:p>
                  </a:txBody>
                  <a:tcPr marL="128016" marR="128016" marT="54864" marB="54864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E0793A"/>
                          </a:solidFill>
                          <a:latin typeface="Calibri"/>
                        </a:rPr>
                        <a:t>Dagster</a:t>
                      </a:r>
                    </a:p>
                  </a:txBody>
                  <a:tcPr marL="128016" marR="128016" marT="54864" marB="54864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22C37"/>
                          </a:solidFill>
                          <a:latin typeface="Calibri"/>
                        </a:rPr>
                        <a:t>The pipeline is naturally an asset graph, not a task list, and it integrates directly with both dlt and dbt</a:t>
                      </a:r>
                    </a:p>
                  </a:txBody>
                  <a:tcPr marL="128016" marR="128016" marT="54864" marB="54864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22C37"/>
                          </a:solidFill>
                          <a:latin typeface="Calibri"/>
                        </a:rPr>
                        <a:t>Airflow would restate dbt's dependencies by hand; cron gives no lineage and no conditional downstream execution</a:t>
                      </a:r>
                    </a:p>
                  </a:txBody>
                  <a:tcPr marL="128016" marR="128016" marT="54864" marB="54864" anchor="ctr">
                    <a:solidFill>
                      <a:srgbClr val="EEF1F5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14304D"/>
                          </a:solidFill>
                          <a:latin typeface="Calibri"/>
                        </a:rPr>
                        <a:t>Quality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E0793A"/>
                          </a:solidFill>
                          <a:latin typeface="Calibri"/>
                        </a:rPr>
                        <a:t>dbt tests + utils
+ expectations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22C37"/>
                          </a:solidFill>
                          <a:latin typeface="Calibri"/>
                        </a:rPr>
                        <a:t>79 structural and business checks run in the same build command and surface as asset checks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22C37"/>
                          </a:solidFill>
                          <a:latin typeface="Calibri"/>
                        </a:rPr>
                        <a:t>A separate assertion service would split ownership and reporting away from the models being tested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793A"/>
                </a:solidFill>
                <a:latin typeface="Calibri"/>
              </a:rPr>
              <a:t>TECHNICAL FOUNDATION  ·  4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48640"/>
            <a:ext cx="105156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4304D"/>
                </a:solidFill>
                <a:latin typeface="Calibri"/>
              </a:rPr>
              <a:t>Warehouse Design: A Star That Cannot Double-Count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960120" cy="54864"/>
          </a:xfrm>
          <a:prstGeom prst="rect">
            <a:avLst/>
          </a:prstGeom>
          <a:solidFill>
            <a:srgbClr val="E07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Calibri"/>
              </a:rPr>
              <a:t>Olist marketplace analysis  ·  olist_marts (BigQuery)  ·  99,441 orders, Sep 2016 – Oct 2018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222C37"/>
                </a:solidFill>
                <a:latin typeface="Calibri"/>
              </a:rPr>
              <a:t>The marts are a fact constellation — four facts at their own natural grains, sharing four conformed dimensions.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6217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0793A"/>
                </a:solidFill>
                <a:latin typeface="Calibri"/>
              </a:rPr>
              <a:t>CONFORMED DIMENSIONS  ·  JOINED ON *_key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57984"/>
            <a:ext cx="144475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4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157984"/>
            <a:ext cx="12984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4304D"/>
                </a:solidFill>
                <a:latin typeface="Calibri"/>
              </a:rPr>
              <a:t>dim_customer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152144" y="2715768"/>
            <a:ext cx="146304" cy="237744"/>
          </a:xfrm>
          <a:prstGeom prst="downArrow">
            <a:avLst/>
          </a:prstGeom>
          <a:solidFill>
            <a:srgbClr val="9AA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93976" y="2157984"/>
            <a:ext cx="144475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4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67128" y="2157984"/>
            <a:ext cx="12984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4304D"/>
                </a:solidFill>
                <a:latin typeface="Calibri"/>
              </a:rPr>
              <a:t>dim_product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743200" y="2715768"/>
            <a:ext cx="146304" cy="237744"/>
          </a:xfrm>
          <a:prstGeom prst="downArrow">
            <a:avLst/>
          </a:prstGeom>
          <a:solidFill>
            <a:srgbClr val="9AA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85032" y="2157984"/>
            <a:ext cx="144475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4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58184" y="2157984"/>
            <a:ext cx="12984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4304D"/>
                </a:solidFill>
                <a:latin typeface="Calibri"/>
              </a:rPr>
              <a:t>dim_seller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4334256" y="2715768"/>
            <a:ext cx="146304" cy="237744"/>
          </a:xfrm>
          <a:prstGeom prst="downArrow">
            <a:avLst/>
          </a:prstGeom>
          <a:solidFill>
            <a:srgbClr val="9AA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76088" y="2157984"/>
            <a:ext cx="144475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4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2157984"/>
            <a:ext cx="12984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4304D"/>
                </a:solidFill>
                <a:latin typeface="Calibri"/>
              </a:rPr>
              <a:t>dim_date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5925312" y="2715768"/>
            <a:ext cx="146304" cy="237744"/>
          </a:xfrm>
          <a:prstGeom prst="downArrow">
            <a:avLst/>
          </a:prstGeom>
          <a:solidFill>
            <a:srgbClr val="9AA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054096"/>
            <a:ext cx="6217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0793A"/>
                </a:solidFill>
                <a:latin typeface="Calibri"/>
              </a:rPr>
              <a:t>FACTS  ·  EACH KEPT AT ITS OWN GRAIN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328416"/>
            <a:ext cx="1444752" cy="932688"/>
          </a:xfrm>
          <a:prstGeom prst="rect">
            <a:avLst/>
          </a:prstGeom>
          <a:solidFill>
            <a:srgbClr val="14304D"/>
          </a:solidFill>
          <a:ln w="19050">
            <a:solidFill>
              <a:srgbClr val="E07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419856"/>
            <a:ext cx="131673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fct_orders</a:t>
            </a:r>
          </a:p>
          <a:p>
            <a:pPr algn="ctr">
              <a:lnSpc>
                <a:spcPct val="112000"/>
              </a:lnSpc>
            </a:pPr>
            <a:r>
              <a:rPr sz="950" b="0">
                <a:solidFill>
                  <a:srgbClr val="C6D0DB"/>
                </a:solidFill>
                <a:latin typeface="Calibri"/>
              </a:rPr>
              <a:t>one row per order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352544"/>
            <a:ext cx="14447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E0793A"/>
                </a:solidFill>
                <a:latin typeface="Calibri"/>
              </a:rPr>
              <a:t>ORDER-GRAIN HUB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93976" y="3328416"/>
            <a:ext cx="1444752" cy="932688"/>
          </a:xfrm>
          <a:prstGeom prst="rect">
            <a:avLst/>
          </a:prstGeom>
          <a:solidFill>
            <a:srgbClr val="14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57984" y="3419856"/>
            <a:ext cx="131673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fct_order_items</a:t>
            </a:r>
          </a:p>
          <a:p>
            <a:pPr algn="ctr">
              <a:lnSpc>
                <a:spcPct val="112000"/>
              </a:lnSpc>
            </a:pPr>
            <a:r>
              <a:rPr sz="950" b="0">
                <a:solidFill>
                  <a:srgbClr val="C6D0DB"/>
                </a:solidFill>
                <a:latin typeface="Calibri"/>
              </a:rPr>
              <a:t>order_id +
order_item_id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85032" y="3328416"/>
            <a:ext cx="1444752" cy="932688"/>
          </a:xfrm>
          <a:prstGeom prst="rect">
            <a:avLst/>
          </a:prstGeom>
          <a:solidFill>
            <a:srgbClr val="14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49040" y="3419856"/>
            <a:ext cx="131673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fct_payments</a:t>
            </a:r>
          </a:p>
          <a:p>
            <a:pPr algn="ctr">
              <a:lnSpc>
                <a:spcPct val="112000"/>
              </a:lnSpc>
            </a:pPr>
            <a:r>
              <a:rPr sz="950" b="0">
                <a:solidFill>
                  <a:srgbClr val="C6D0DB"/>
                </a:solidFill>
                <a:latin typeface="Calibri"/>
              </a:rPr>
              <a:t>order_id +
payment_sequential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76088" y="3328416"/>
            <a:ext cx="1444752" cy="932688"/>
          </a:xfrm>
          <a:prstGeom prst="rect">
            <a:avLst/>
          </a:prstGeom>
          <a:solidFill>
            <a:srgbClr val="14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40096" y="3419856"/>
            <a:ext cx="131673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fct_reviews</a:t>
            </a:r>
          </a:p>
          <a:p>
            <a:pPr algn="ctr">
              <a:lnSpc>
                <a:spcPct val="112000"/>
              </a:lnSpc>
            </a:pPr>
            <a:r>
              <a:rPr sz="950" b="0">
                <a:solidFill>
                  <a:srgbClr val="C6D0DB"/>
                </a:solidFill>
                <a:latin typeface="Calibri"/>
              </a:rPr>
              <a:t>one deduplicated
review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919472"/>
            <a:ext cx="621792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E07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4919472"/>
            <a:ext cx="5705856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4304D"/>
                </a:solidFill>
                <a:latin typeface="Calibri"/>
              </a:rPr>
              <a:t>The rule that protects revenue:</a:t>
            </a:r>
            <a:r>
              <a:rPr sz="1200" b="0">
                <a:solidFill>
                  <a:srgbClr val="222C37"/>
                </a:solidFill>
                <a:latin typeface="Calibri"/>
              </a:rPr>
              <a:t>  never join fct_payments straight to fct_order_items and sum payment_value. Facts meet only through order_id, and only after each is aggregated to order grain. Tests assert both composite grains on every build.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1874519"/>
            <a:ext cx="46908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0793A"/>
                </a:solidFill>
                <a:latin typeface="Calibri"/>
              </a:rPr>
              <a:t>WHY THIS SHAPE, AND NOT ONE WIDE TABLE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2231136"/>
            <a:ext cx="4690872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E0793A"/>
                </a:solidFill>
                <a:latin typeface="Calibri"/>
              </a:rPr>
              <a:t>›  </a:t>
            </a:r>
            <a:r>
              <a:rPr sz="1250" b="1">
                <a:solidFill>
                  <a:srgbClr val="14304D"/>
                </a:solidFill>
                <a:latin typeface="Calibri"/>
              </a:rPr>
              <a:t>One order has many items and many payments. </a:t>
            </a:r>
            <a:r>
              <a:rPr sz="1250" b="0">
                <a:solidFill>
                  <a:srgbClr val="222C37"/>
                </a:solidFill>
                <a:latin typeface="Calibri"/>
              </a:rPr>
              <a:t>Flatten both into a single fact and every payment repeats on every line — revenue inflates silently, and nothing errors.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E0793A"/>
                </a:solidFill>
                <a:latin typeface="Calibri"/>
              </a:rPr>
              <a:t>›  </a:t>
            </a:r>
            <a:r>
              <a:rPr sz="1250" b="1">
                <a:solidFill>
                  <a:srgbClr val="14304D"/>
                </a:solidFill>
                <a:latin typeface="Calibri"/>
              </a:rPr>
              <a:t>fct_orders is the hub. </a:t>
            </a:r>
            <a:r>
              <a:rPr sz="1250" b="0">
                <a:solidFill>
                  <a:srgbClr val="222C37"/>
                </a:solidFill>
                <a:latin typeface="Calibri"/>
              </a:rPr>
              <a:t>Delivery lateness, review linkage and reconciled payment-vs-item totals all sit at order grain, so the headline revenue measure is safe to sum.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E0793A"/>
                </a:solidFill>
                <a:latin typeface="Calibri"/>
              </a:rPr>
              <a:t>›  </a:t>
            </a:r>
            <a:r>
              <a:rPr sz="1250" b="1">
                <a:solidFill>
                  <a:srgbClr val="14304D"/>
                </a:solidFill>
                <a:latin typeface="Calibri"/>
              </a:rPr>
              <a:t>dim_customer is keyed on customer_unique_id. </a:t>
            </a:r>
            <a:r>
              <a:rPr sz="1250" b="0">
                <a:solidFill>
                  <a:srgbClr val="222C37"/>
                </a:solidFill>
                <a:latin typeface="Calibri"/>
              </a:rPr>
              <a:t>The raw customer_id is a per-order surrogate; keying on it would make every repeat customer look like a new person.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E0793A"/>
                </a:solidFill>
                <a:latin typeface="Calibri"/>
              </a:rPr>
              <a:t>›  </a:t>
            </a:r>
            <a:r>
              <a:rPr sz="1250" b="1">
                <a:solidFill>
                  <a:srgbClr val="14304D"/>
                </a:solidFill>
                <a:latin typeface="Calibri"/>
              </a:rPr>
              <a:t>Measures are additive only where the grain allows it. </a:t>
            </a:r>
            <a:r>
              <a:rPr sz="1250" b="0">
                <a:solidFill>
                  <a:srgbClr val="222C37"/>
                </a:solidFill>
                <a:latin typeface="Calibri"/>
              </a:rPr>
              <a:t>Payments sum across payment rows, price and freight across item rows; review scores are analysed, never summed.</a:t>
            </a:r>
          </a:p>
          <a:p>
            <a:pPr algn="l">
              <a:lnSpc>
                <a:spcPct val="122000"/>
              </a:lnSpc>
            </a:pPr>
            <a:r>
              <a:rPr sz="1250" b="1">
                <a:solidFill>
                  <a:srgbClr val="E0793A"/>
                </a:solidFill>
                <a:latin typeface="Calibri"/>
              </a:rPr>
              <a:t>›  </a:t>
            </a:r>
            <a:r>
              <a:rPr sz="1250" b="1">
                <a:solidFill>
                  <a:srgbClr val="14304D"/>
                </a:solidFill>
                <a:latin typeface="Calibri"/>
              </a:rPr>
              <a:t>Physical layout is declared for scale. </a:t>
            </a:r>
            <a:r>
              <a:rPr sz="1250" b="0">
                <a:solidFill>
                  <a:srgbClr val="222C37"/>
                </a:solidFill>
                <a:latin typeface="Calibri"/>
              </a:rPr>
              <a:t>Facts partition on their date and cluster on the keys they are filtered by — design intent today, measurable speedup at volume.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793A"/>
                </a:solidFill>
                <a:latin typeface="Calibri"/>
              </a:rPr>
              <a:t>TECHNICAL FOUNDATION  ·  5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48640"/>
            <a:ext cx="105156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4304D"/>
                </a:solidFill>
                <a:latin typeface="Calibri"/>
              </a:rPr>
              <a:t>How the Numbers Stay Correct Without Anyone Watching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960120" cy="54864"/>
          </a:xfrm>
          <a:prstGeom prst="rect">
            <a:avLst/>
          </a:prstGeom>
          <a:solidFill>
            <a:srgbClr val="E07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Calibri"/>
              </a:rPr>
              <a:t>Olist marketplace analysis  ·  olist_marts (BigQuery)  ·  99,441 orders, Sep 2016 – Oct 2018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222C37"/>
                </a:solidFill>
                <a:latin typeface="Calibri"/>
              </a:rPr>
              <a:t>79 tests run inside every build — not as a separate job someone has to remember to start.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47088"/>
            <a:ext cx="5440680" cy="4187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47088"/>
            <a:ext cx="5440680" cy="475488"/>
          </a:xfrm>
          <a:prstGeom prst="rect">
            <a:avLst/>
          </a:prstGeom>
          <a:solidFill>
            <a:srgbClr val="14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847088"/>
            <a:ext cx="503834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THE 79 CHECKS, BY FAMILY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48920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4304D"/>
                </a:solidFill>
                <a:latin typeface="Calibri"/>
              </a:rPr>
              <a:t>unique, not_null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222C37"/>
                </a:solidFill>
                <a:latin typeface="Calibri"/>
              </a:rPr>
              <a:t>declared grains and required join keys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99232"/>
            <a:ext cx="48920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4304D"/>
                </a:solidFill>
                <a:latin typeface="Calibri"/>
              </a:rPr>
              <a:t>relationships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222C37"/>
                </a:solidFill>
                <a:latin typeface="Calibri"/>
              </a:rPr>
              <a:t>order, customer, product, seller, payment and review links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29584"/>
            <a:ext cx="48920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4304D"/>
                </a:solidFill>
                <a:latin typeface="Calibri"/>
              </a:rPr>
              <a:t>accepted_values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222C37"/>
                </a:solidFill>
                <a:latin typeface="Calibri"/>
              </a:rPr>
              <a:t>order status and payment type domains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59936"/>
            <a:ext cx="48920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4304D"/>
                </a:solidFill>
                <a:latin typeface="Calibri"/>
              </a:rPr>
              <a:t>dbt_utils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222C37"/>
                </a:solidFill>
                <a:latin typeface="Calibri"/>
              </a:rPr>
              <a:t>composite keys, non-negative amounts, customer grain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90288"/>
            <a:ext cx="48920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4304D"/>
                </a:solidFill>
                <a:latin typeface="Calibri"/>
              </a:rPr>
              <a:t>dbt_expectations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222C37"/>
                </a:solidFill>
                <a:latin typeface="Calibri"/>
              </a:rPr>
              <a:t>row-count bands, date ranges, timestamp ordering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230368"/>
            <a:ext cx="4892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14304D"/>
                </a:solidFill>
                <a:latin typeface="Calibri"/>
              </a:rPr>
              <a:t>Declared beside the models they guard </a:t>
            </a:r>
            <a:r>
              <a:rPr sz="1150" b="0">
                <a:solidFill>
                  <a:srgbClr val="222C37"/>
                </a:solidFill>
                <a:latin typeface="Calibri"/>
              </a:rPr>
              <a:t>in _sources.yml and each layer's schema.yml — so a new model without tests is visible in review, not discovered in production.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5352" y="1847088"/>
            <a:ext cx="5440680" cy="4187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5352" y="1847088"/>
            <a:ext cx="5440680" cy="475488"/>
          </a:xfrm>
          <a:prstGeom prst="rect">
            <a:avLst/>
          </a:prstGeom>
          <a:solidFill>
            <a:srgbClr val="14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847088"/>
            <a:ext cx="503834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WHAT HAPPENS WHEN ONE FAILS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468880"/>
            <a:ext cx="489204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4304D"/>
                </a:solidFill>
                <a:latin typeface="Calibri"/>
              </a:rPr>
              <a:t>Most failures block the build.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222C37"/>
                </a:solidFill>
                <a:latin typeface="Calibri"/>
              </a:rPr>
              <a:t>A missing key, a broken relationship, a duplicated grain or an out-of-domain value stops the run before anything downstream rebuilds on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3383280"/>
            <a:ext cx="489204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4304D"/>
                </a:solidFill>
                <a:latin typeface="Calibri"/>
              </a:rPr>
              <a:t>Two lifecycle checks warn instead.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222C37"/>
                </a:solidFill>
                <a:latin typeface="Calibri"/>
              </a:rPr>
              <a:t>The source holds plausible historical anomalies. They stay visible in the run without blocking models that have nothing to do with them.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4297680"/>
            <a:ext cx="489204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4304D"/>
                </a:solidFill>
                <a:latin typeface="Calibri"/>
              </a:rPr>
              <a:t>Nothing is ever repaired silently.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222C37"/>
                </a:solidFill>
                <a:latin typeface="Calibri"/>
              </a:rPr>
              <a:t>Tests verify data; they do not mutate it. A bad row is surfaced and left in place, so the fix happens in a model that everyone can review.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5212080"/>
            <a:ext cx="489204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4304D"/>
                </a:solidFill>
                <a:latin typeface="Calibri"/>
              </a:rPr>
              <a:t>Results land on the assets themselves.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222C37"/>
                </a:solidFill>
                <a:latin typeface="Calibri"/>
              </a:rPr>
              <a:t>Dagster maps each test onto the asset it guards, so a failure names the model at fault rather than a generic failed job.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793A"/>
                </a:solidFill>
                <a:latin typeface="Calibri"/>
              </a:rPr>
              <a:t>TECHNICAL FOUNDATION  ·  6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48640"/>
            <a:ext cx="105156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4304D"/>
                </a:solidFill>
                <a:latin typeface="Calibri"/>
              </a:rPr>
              <a:t>Risks — and How Each One Is Contained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960120" cy="54864"/>
          </a:xfrm>
          <a:prstGeom prst="rect">
            <a:avLst/>
          </a:prstGeom>
          <a:solidFill>
            <a:srgbClr val="E07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Calibri"/>
              </a:rPr>
              <a:t>Olist marketplace analysis  ·  olist_marts (BigQuery)  ·  99,441 orders, Sep 2016 – Oct 2018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Calibr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222C37"/>
                </a:solidFill>
                <a:latin typeface="Calibri"/>
              </a:rPr>
              <a:t>Six things could go wrong. Five are already contained by design; one is an open gap we are naming rather than hiding.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55648"/>
            <a:ext cx="3566160" cy="21396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55648"/>
            <a:ext cx="3566160" cy="457200"/>
          </a:xfrm>
          <a:prstGeom prst="rect">
            <a:avLst/>
          </a:prstGeom>
          <a:solidFill>
            <a:srgbClr val="14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5564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Source schema drift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40864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150" b="0">
                <a:solidFill>
                  <a:srgbClr val="222C37"/>
                </a:solidFill>
                <a:latin typeface="Calibri"/>
              </a:rPr>
              <a:t>Kaggle republishes the dataset with a new, renamed or retyped column.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E0793A"/>
                </a:solidFill>
                <a:latin typeface="Calibri"/>
              </a:rPr>
              <a:t>CONTAINED BY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5B6B7A"/>
                </a:solidFill>
                <a:latin typeface="Calibri"/>
              </a:rPr>
              <a:t>The dlt contract freezes the schema, so the load fails loudly instead of quietly changing the marts. The last good dated prefix still replays.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1396" y="1755648"/>
            <a:ext cx="3566160" cy="21396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1396" y="1755648"/>
            <a:ext cx="3566160" cy="457200"/>
          </a:xfrm>
          <a:prstGeom prst="rect">
            <a:avLst/>
          </a:prstGeom>
          <a:solidFill>
            <a:srgbClr val="14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4276" y="175564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Single-VM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4276" y="2340864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150" b="0">
                <a:solidFill>
                  <a:srgbClr val="222C37"/>
                </a:solidFill>
                <a:latin typeface="Calibri"/>
              </a:rPr>
              <a:t>One e2-micro runs the webserver and daemon, with SQLite run history.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E0793A"/>
                </a:solidFill>
                <a:latin typeface="Calibri"/>
              </a:rPr>
              <a:t>CONTAINED BY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5B6B7A"/>
                </a:solidFill>
                <a:latin typeface="Calibri"/>
              </a:rPr>
              <a:t>History is bind-mounted and survives restarts; images are SHA-pinned and redeployable. Residual: history is durable but not replicated.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9872" y="1755648"/>
            <a:ext cx="3566160" cy="21396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9872" y="1755648"/>
            <a:ext cx="3566160" cy="457200"/>
          </a:xfrm>
          <a:prstGeom prst="rect">
            <a:avLst/>
          </a:prstGeom>
          <a:solidFill>
            <a:srgbClr val="14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75564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Misreading the incomplete tail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340864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150" b="0">
                <a:solidFill>
                  <a:srgbClr val="222C37"/>
                </a:solidFill>
                <a:latin typeface="Calibri"/>
              </a:rPr>
              <a:t>The extract stops during 2018, so the final month looks like a collapse.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E0793A"/>
                </a:solidFill>
                <a:latin typeface="Calibri"/>
              </a:rPr>
              <a:t>CONTAINED BY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5B6B7A"/>
                </a:solidFill>
                <a:latin typeface="Calibri"/>
              </a:rPr>
              <a:t>dim_date.is_complete_month marks it, and every trend in this deck filters on it rather than relying on the reader to remember.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114800"/>
            <a:ext cx="3566160" cy="21396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114800"/>
            <a:ext cx="3566160" cy="457200"/>
          </a:xfrm>
          <a:prstGeom prst="rect">
            <a:avLst/>
          </a:prstGeom>
          <a:solidFill>
            <a:srgbClr val="14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1148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Using the wrong customer key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700016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150" b="0">
                <a:solidFill>
                  <a:srgbClr val="222C37"/>
                </a:solidFill>
                <a:latin typeface="Calibri"/>
              </a:rPr>
              <a:t>customer_id is a per-order surrogate; keying on it hides every repeat buyer.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E0793A"/>
                </a:solidFill>
                <a:latin typeface="Calibri"/>
              </a:rPr>
              <a:t>CONTAINED BY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5B6B7A"/>
                </a:solidFill>
                <a:latin typeface="Calibri"/>
              </a:rPr>
              <a:t>dim_customer is keyed on customer_unique_id, and a test asserts it has fewer rows than fct_orders — the mistake fails the build.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11396" y="4114800"/>
            <a:ext cx="3566160" cy="2139696"/>
          </a:xfrm>
          <a:prstGeom prst="rect">
            <a:avLst/>
          </a:prstGeom>
          <a:solidFill>
            <a:srgbClr val="FFFFFF"/>
          </a:solidFill>
          <a:ln w="15875">
            <a:solidFill>
              <a:srgbClr val="E07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11396" y="4114800"/>
            <a:ext cx="3566160" cy="457200"/>
          </a:xfrm>
          <a:prstGeom prst="rect">
            <a:avLst/>
          </a:prstGeom>
          <a:solidFill>
            <a:srgbClr val="E07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4276" y="41148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Payment reconciliation not enforced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4276" y="4700016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150" b="0">
                <a:solidFill>
                  <a:srgbClr val="222C37"/>
                </a:solidFill>
                <a:latin typeface="Calibri"/>
              </a:rPr>
              <a:t>Reconciliation flags exist in the marts, but no test blocks on a tolerance.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E0793A"/>
                </a:solidFill>
                <a:latin typeface="Calibri"/>
              </a:rPr>
              <a:t>OPEN GAP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5B6B7A"/>
                </a:solidFill>
                <a:latin typeface="Calibri"/>
              </a:rPr>
              <a:t>Documented as an open gap rather than a silent one. Next: a blocking test at a tolerance finance agrees.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19872" y="4114800"/>
            <a:ext cx="3566160" cy="21396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19872" y="4114800"/>
            <a:ext cx="3566160" cy="457200"/>
          </a:xfrm>
          <a:prstGeom prst="rect">
            <a:avLst/>
          </a:prstGeom>
          <a:solidFill>
            <a:srgbClr val="14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02752" y="41148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Warehouse cost drift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4700016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150" b="0">
                <a:solidFill>
                  <a:srgbClr val="222C37"/>
                </a:solidFill>
                <a:latin typeface="Calibri"/>
              </a:rPr>
              <a:t>Unbounded scans on facts as history and query volume grow.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E0793A"/>
                </a:solidFill>
                <a:latin typeface="Calibri"/>
              </a:rPr>
              <a:t>CONTAINED BY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5B6B7A"/>
                </a:solidFill>
                <a:latin typeface="Calibri"/>
              </a:rPr>
              <a:t>Aggregation happens inside BigQuery and only small results are pulled back; facts are partitioned by date and clustered on their join keys.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793A"/>
                </a:solidFill>
                <a:latin typeface="Calibri"/>
              </a:rPr>
              <a:t>TECHNICAL FOUNDATION  ·  7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48640"/>
            <a:ext cx="105156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4304D"/>
                </a:solidFill>
                <a:latin typeface="Calibri"/>
              </a:rPr>
              <a:t>What Holds at 100× Volume — and What We Would Change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960120" cy="54864"/>
          </a:xfrm>
          <a:prstGeom prst="rect">
            <a:avLst/>
          </a:prstGeom>
          <a:solidFill>
            <a:srgbClr val="E07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Calibri"/>
              </a:rPr>
              <a:t>Olist marketplace analysis  ·  olist_marts (BigQuery)  ·  99,441 orders, Sep 2016 – Oct 2018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222C37"/>
                </a:solidFill>
                <a:latin typeface="Calibri"/>
              </a:rPr>
              <a:t>Scalability is a claim worth being specific about. Here is what survives growth untouched, and what we would rebuild.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47088"/>
            <a:ext cx="5440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47088"/>
            <a:ext cx="5440680" cy="475488"/>
          </a:xfrm>
          <a:prstGeom prst="rect">
            <a:avLst/>
          </a:prstGeom>
          <a:solidFill>
            <a:srgbClr val="14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847088"/>
            <a:ext cx="503834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HOLDS AS-IS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489204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00" b="1">
                <a:solidFill>
                  <a:srgbClr val="E0793A"/>
                </a:solidFill>
                <a:latin typeface="Calibri"/>
              </a:rPr>
              <a:t>›  </a:t>
            </a:r>
            <a:r>
              <a:rPr sz="1200" b="1">
                <a:solidFill>
                  <a:srgbClr val="14304D"/>
                </a:solidFill>
                <a:latin typeface="Calibri"/>
              </a:rPr>
              <a:t>ELT with a durable raw zone. </a:t>
            </a:r>
            <a:r>
              <a:rPr sz="1200" b="0">
                <a:solidFill>
                  <a:srgbClr val="222C37"/>
                </a:solidFill>
                <a:latin typeface="Calibri"/>
              </a:rPr>
              <a:t>A transformation defect is fixed in SQL and rebuilt — no re-extraction.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00" b="1">
                <a:solidFill>
                  <a:srgbClr val="E0793A"/>
                </a:solidFill>
                <a:latin typeface="Calibri"/>
              </a:rPr>
              <a:t>›  </a:t>
            </a:r>
            <a:r>
              <a:rPr sz="1200" b="1">
                <a:solidFill>
                  <a:srgbClr val="14304D"/>
                </a:solidFill>
                <a:latin typeface="Calibri"/>
              </a:rPr>
              <a:t>The star-schema grains. </a:t>
            </a:r>
            <a:r>
              <a:rPr sz="1200" b="0">
                <a:solidFill>
                  <a:srgbClr val="222C37"/>
                </a:solidFill>
                <a:latin typeface="Calibri"/>
              </a:rPr>
              <a:t>Items and payments stay separate facts at any volume; that is what keeps revenue additive.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00" b="1">
                <a:solidFill>
                  <a:srgbClr val="E0793A"/>
                </a:solidFill>
                <a:latin typeface="Calibri"/>
              </a:rPr>
              <a:t>›  </a:t>
            </a:r>
            <a:r>
              <a:rPr sz="1200" b="1">
                <a:solidFill>
                  <a:srgbClr val="14304D"/>
                </a:solidFill>
                <a:latin typeface="Calibri"/>
              </a:rPr>
              <a:t>Tests as asset checks. </a:t>
            </a:r>
            <a:r>
              <a:rPr sz="1200" b="0">
                <a:solidFill>
                  <a:srgbClr val="222C37"/>
                </a:solidFill>
                <a:latin typeface="Calibri"/>
              </a:rPr>
              <a:t>79 checks already run inside the build, not as a second system to maintain.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00" b="1">
                <a:solidFill>
                  <a:srgbClr val="E0793A"/>
                </a:solidFill>
                <a:latin typeface="Calibri"/>
              </a:rPr>
              <a:t>›  </a:t>
            </a:r>
            <a:r>
              <a:rPr sz="1200" b="1">
                <a:solidFill>
                  <a:srgbClr val="14304D"/>
                </a:solidFill>
                <a:latin typeface="Calibri"/>
              </a:rPr>
              <a:t>The asset graph. </a:t>
            </a:r>
            <a:r>
              <a:rPr sz="1200" b="0">
                <a:solidFill>
                  <a:srgbClr val="222C37"/>
                </a:solidFill>
                <a:latin typeface="Calibri"/>
              </a:rPr>
              <a:t>New models join the lineage without rewiring the orchestrator.</a:t>
            </a:r>
          </a:p>
          <a:p>
            <a:pPr algn="l">
              <a:lnSpc>
                <a:spcPct val="122000"/>
              </a:lnSpc>
            </a:pPr>
            <a:r>
              <a:rPr sz="1200" b="1">
                <a:solidFill>
                  <a:srgbClr val="E0793A"/>
                </a:solidFill>
                <a:latin typeface="Calibri"/>
              </a:rPr>
              <a:t>›  </a:t>
            </a:r>
            <a:r>
              <a:rPr sz="1200" b="1">
                <a:solidFill>
                  <a:srgbClr val="14304D"/>
                </a:solidFill>
                <a:latin typeface="Calibri"/>
              </a:rPr>
              <a:t>Partitioning and clustering. </a:t>
            </a:r>
            <a:r>
              <a:rPr sz="1200" b="0">
                <a:solidFill>
                  <a:srgbClr val="222C37"/>
                </a:solidFill>
                <a:latin typeface="Calibri"/>
              </a:rPr>
              <a:t>Already declared on the facts, waiting for the volume to make them matter.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1847088"/>
            <a:ext cx="5440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1847088"/>
            <a:ext cx="5440680" cy="475488"/>
          </a:xfrm>
          <a:prstGeom prst="rect">
            <a:avLst/>
          </a:prstGeom>
          <a:solidFill>
            <a:srgbClr val="14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847088"/>
            <a:ext cx="503834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WOULD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514600"/>
            <a:ext cx="489204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00" b="1">
                <a:solidFill>
                  <a:srgbClr val="E0793A"/>
                </a:solidFill>
                <a:latin typeface="Calibri"/>
              </a:rPr>
              <a:t>›  </a:t>
            </a:r>
            <a:r>
              <a:rPr sz="1200" b="1">
                <a:solidFill>
                  <a:srgbClr val="14304D"/>
                </a:solidFill>
                <a:latin typeface="Calibri"/>
              </a:rPr>
              <a:t>Incremental models. </a:t>
            </a:r>
            <a:r>
              <a:rPr sz="1200" b="0">
                <a:solidFill>
                  <a:srgbClr val="222C37"/>
                </a:solidFill>
                <a:latin typeface="Calibri"/>
              </a:rPr>
              <a:t>Marts rebuild in full today; at volume they become incremental on the partition column.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00" b="1">
                <a:solidFill>
                  <a:srgbClr val="E0793A"/>
                </a:solidFill>
                <a:latin typeface="Calibri"/>
              </a:rPr>
              <a:t>›  </a:t>
            </a:r>
            <a:r>
              <a:rPr sz="1200" b="1">
                <a:solidFill>
                  <a:srgbClr val="14304D"/>
                </a:solidFill>
                <a:latin typeface="Calibri"/>
              </a:rPr>
              <a:t>Deployment topology. </a:t>
            </a:r>
            <a:r>
              <a:rPr sz="1200" b="0">
                <a:solidFill>
                  <a:srgbClr val="222C37"/>
                </a:solidFill>
                <a:latin typeface="Calibri"/>
              </a:rPr>
              <a:t>One VM with SQLite becomes Postgres-backed Dagster, a separate code server, per-run containers.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00" b="1">
                <a:solidFill>
                  <a:srgbClr val="E0793A"/>
                </a:solidFill>
                <a:latin typeface="Calibri"/>
              </a:rPr>
              <a:t>›  </a:t>
            </a:r>
            <a:r>
              <a:rPr sz="1200" b="1">
                <a:solidFill>
                  <a:srgbClr val="14304D"/>
                </a:solidFill>
                <a:latin typeface="Calibri"/>
              </a:rPr>
              <a:t>Ingestion pattern. </a:t>
            </a:r>
            <a:r>
              <a:rPr sz="1200" b="0">
                <a:solidFill>
                  <a:srgbClr val="222C37"/>
                </a:solidFill>
                <a:latin typeface="Calibri"/>
              </a:rPr>
              <a:t>A static snapshot is polled; a live source moves to CDC or event-driven arrival.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00" b="1">
                <a:solidFill>
                  <a:srgbClr val="E0793A"/>
                </a:solidFill>
                <a:latin typeface="Calibri"/>
              </a:rPr>
              <a:t>›  </a:t>
            </a:r>
            <a:r>
              <a:rPr sz="1200" b="1">
                <a:solidFill>
                  <a:srgbClr val="14304D"/>
                </a:solidFill>
                <a:latin typeface="Calibri"/>
              </a:rPr>
              <a:t>Cost controls. </a:t>
            </a:r>
            <a:r>
              <a:rPr sz="1200" b="0">
                <a:solidFill>
                  <a:srgbClr val="222C37"/>
                </a:solidFill>
                <a:latin typeface="Calibri"/>
              </a:rPr>
              <a:t>Slot reservations, byte-scanned budgets and per-consumer quotas once scans stop being trivial.</a:t>
            </a:r>
          </a:p>
          <a:p>
            <a:pPr algn="l">
              <a:lnSpc>
                <a:spcPct val="122000"/>
              </a:lnSpc>
            </a:pPr>
            <a:r>
              <a:rPr sz="1200" b="1">
                <a:solidFill>
                  <a:srgbClr val="E0793A"/>
                </a:solidFill>
                <a:latin typeface="Calibri"/>
              </a:rPr>
              <a:t>›  </a:t>
            </a:r>
            <a:r>
              <a:rPr sz="1200" b="1">
                <a:solidFill>
                  <a:srgbClr val="14304D"/>
                </a:solidFill>
                <a:latin typeface="Calibri"/>
              </a:rPr>
              <a:t>Serving layer. </a:t>
            </a:r>
            <a:r>
              <a:rPr sz="1200" b="0">
                <a:solidFill>
                  <a:srgbClr val="222C37"/>
                </a:solidFill>
                <a:latin typeface="Calibri"/>
              </a:rPr>
              <a:t>Notebooks and the console suffice today; a BI semantic layer follows the user count.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E07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5596128"/>
            <a:ext cx="10671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14304D"/>
                </a:solidFill>
                <a:latin typeface="Calibri"/>
              </a:rPr>
              <a:t>Honest caveat:</a:t>
            </a:r>
            <a:r>
              <a:rPr sz="1250" b="0">
                <a:solidFill>
                  <a:srgbClr val="222C37"/>
                </a:solidFill>
                <a:latin typeface="Calibri"/>
              </a:rPr>
              <a:t>  at ~120 MB, partitioning and clustering express the intended access pattern — they are not a measured speedup on this sample. We present them as scale-aware design, not as a performance result.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